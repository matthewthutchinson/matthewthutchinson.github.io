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ontserrat"/>
      <p:regular r:id="rId20"/>
      <p:bold r:id="rId21"/>
      <p:italic r:id="rId22"/>
      <p:boldItalic r:id="rId23"/>
    </p:embeddedFont>
    <p:embeddedFont>
      <p:font typeface="EB Garamond"/>
      <p:regular r:id="rId24"/>
      <p:bold r:id="rId25"/>
      <p:italic r:id="rId26"/>
      <p:boldItalic r:id="rId27"/>
    </p:embeddedFont>
    <p:embeddedFont>
      <p:font typeface="Oswald"/>
      <p:regular r:id="rId28"/>
      <p:bold r:id="rId29"/>
    </p:embeddedFont>
    <p:embeddedFont>
      <p:font typeface="DM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80">
          <p15:clr>
            <a:srgbClr val="000000"/>
          </p15:clr>
        </p15:guide>
        <p15:guide id="2" pos="1440">
          <p15:clr>
            <a:srgbClr val="000000"/>
          </p15:clr>
        </p15:guide>
      </p15:sldGuideLst>
    </p:ext>
    <p:ext uri="GoogleSlidesCustomDataVersion2">
      <go:slidesCustomData xmlns:go="http://customooxmlschemas.google.com/" r:id="rId34" roundtripDataSignature="AMtx7mgpa58GLA9UNy5jlPcNxPbIZeqw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80" orient="horz"/>
        <p:guide pos="14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EBGaramond-regular.fntdata"/><Relationship Id="rId23"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EBGaramond-italic.fntdata"/><Relationship Id="rId25" Type="http://schemas.openxmlformats.org/officeDocument/2006/relationships/font" Target="fonts/EBGaramond-bold.fntdata"/><Relationship Id="rId28" Type="http://schemas.openxmlformats.org/officeDocument/2006/relationships/font" Target="fonts/Oswald-regular.fntdata"/><Relationship Id="rId27" Type="http://schemas.openxmlformats.org/officeDocument/2006/relationships/font" Target="fonts/EBGaramon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swa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bold.fntdata"/><Relationship Id="rId30" Type="http://schemas.openxmlformats.org/officeDocument/2006/relationships/font" Target="fonts/DMSans-regular.fntdata"/><Relationship Id="rId11" Type="http://schemas.openxmlformats.org/officeDocument/2006/relationships/slide" Target="slides/slide6.xml"/><Relationship Id="rId33" Type="http://schemas.openxmlformats.org/officeDocument/2006/relationships/font" Target="fonts/DMSans-boldItalic.fntdata"/><Relationship Id="rId10" Type="http://schemas.openxmlformats.org/officeDocument/2006/relationships/slide" Target="slides/slide5.xml"/><Relationship Id="rId32" Type="http://schemas.openxmlformats.org/officeDocument/2006/relationships/font" Target="fonts/DMSans-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e5349b7fe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SzPts val="1100"/>
              <a:buNone/>
            </a:pPr>
            <a:r>
              <a:rPr lang="en-US" sz="1600"/>
              <a:t>Composites are fundamental in aerospace for their strength-to-weight ratio, corrosion resistance, and design flexibility, enhancing aircraft performance and efficiency</a:t>
            </a:r>
            <a:r>
              <a:rPr lang="en-US" sz="1600"/>
              <a:t>.</a:t>
            </a:r>
            <a:endParaRPr sz="1600"/>
          </a:p>
          <a:p>
            <a:pPr indent="0" lvl="0" marL="0" rtl="0" algn="l">
              <a:lnSpc>
                <a:spcPct val="115000"/>
              </a:lnSpc>
              <a:spcBef>
                <a:spcPts val="1000"/>
              </a:spcBef>
              <a:spcAft>
                <a:spcPts val="0"/>
              </a:spcAft>
              <a:buSzPts val="1100"/>
              <a:buNone/>
            </a:pPr>
            <a:r>
              <a:rPr lang="en-US" sz="1600"/>
              <a:t>Traditionally, composite manufacturing has been manual, leading to potential inconsistencies. Automation minimizes human error, increases efficiency, and reduces labor costs.</a:t>
            </a:r>
            <a:endParaRPr sz="1600"/>
          </a:p>
          <a:p>
            <a:pPr indent="0" lvl="0" marL="0" rtl="0" algn="l">
              <a:lnSpc>
                <a:spcPct val="115000"/>
              </a:lnSpc>
              <a:spcBef>
                <a:spcPts val="1000"/>
              </a:spcBef>
              <a:spcAft>
                <a:spcPts val="0"/>
              </a:spcAft>
              <a:buSzPts val="1100"/>
              <a:buNone/>
            </a:pPr>
            <a:r>
              <a:rPr lang="en-US" sz="1600"/>
              <a:t>AFP is a key method in automating composite production. It precisely places fibers in set paths, crucial for structural integrity in aerospace applications.</a:t>
            </a:r>
            <a:endParaRPr sz="1600"/>
          </a:p>
          <a:p>
            <a:pPr indent="0" lvl="0" marL="0" rtl="0" algn="l">
              <a:lnSpc>
                <a:spcPct val="115000"/>
              </a:lnSpc>
              <a:spcBef>
                <a:spcPts val="1000"/>
              </a:spcBef>
              <a:spcAft>
                <a:spcPts val="1000"/>
              </a:spcAft>
              <a:buSzPts val="1100"/>
              <a:buNone/>
            </a:pPr>
            <a:r>
              <a:rPr lang="en-US" sz="1600"/>
              <a:t>AFP works well for simpler trajectories, however there's a big opportunity to improve it for more complex geometries.</a:t>
            </a:r>
            <a:endParaRPr sz="1600"/>
          </a:p>
        </p:txBody>
      </p:sp>
      <p:sp>
        <p:nvSpPr>
          <p:cNvPr id="124" name="Google Shape;124;g2e5349b7fe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e5349b7fe2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800"/>
              <a:t>At the USC ARM Institute, a setup with three KUKA robotic arms used force and impedance control to operate a roller end effector. The end effector </a:t>
            </a:r>
            <a:r>
              <a:rPr lang="en-US" sz="1800"/>
              <a:t>smoothed</a:t>
            </a:r>
            <a:r>
              <a:rPr lang="en-US" sz="1800"/>
              <a:t> the ply over the mold, flushing out any air bubbles. </a:t>
            </a:r>
            <a:endParaRPr sz="1800"/>
          </a:p>
          <a:p>
            <a:pPr indent="0" lvl="0" marL="0" rtl="0" algn="l">
              <a:lnSpc>
                <a:spcPct val="100000"/>
              </a:lnSpc>
              <a:spcBef>
                <a:spcPts val="0"/>
              </a:spcBef>
              <a:spcAft>
                <a:spcPts val="0"/>
              </a:spcAft>
              <a:buSzPts val="1100"/>
              <a:buNone/>
            </a:pPr>
            <a:r>
              <a:t/>
            </a:r>
            <a:endParaRPr sz="1800"/>
          </a:p>
          <a:p>
            <a:pPr indent="0" lvl="0" marL="0" rtl="0" algn="l">
              <a:lnSpc>
                <a:spcPct val="100000"/>
              </a:lnSpc>
              <a:spcBef>
                <a:spcPts val="0"/>
              </a:spcBef>
              <a:spcAft>
                <a:spcPts val="0"/>
              </a:spcAft>
              <a:buSzPts val="1100"/>
              <a:buNone/>
            </a:pPr>
            <a:r>
              <a:rPr lang="en-US" sz="1800"/>
              <a:t>Our project focuses on developing a controller </a:t>
            </a:r>
            <a:r>
              <a:rPr lang="en-US" sz="1800">
                <a:solidFill>
                  <a:schemeClr val="dk1"/>
                </a:solidFill>
              </a:rPr>
              <a:t>for a single robotic arm to navigate various trajectories, laying individual fiber tows instead of full sheets. This requires precise motion control for adapting to the unique contours of different molds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lnSpc>
                <a:spcPct val="100000"/>
              </a:lnSpc>
              <a:spcBef>
                <a:spcPts val="0"/>
              </a:spcBef>
              <a:spcAft>
                <a:spcPts val="0"/>
              </a:spcAft>
              <a:buSzPts val="1100"/>
              <a:buNone/>
            </a:pPr>
            <a:r>
              <a:t/>
            </a:r>
            <a:endParaRPr sz="1800">
              <a:solidFill>
                <a:schemeClr val="dk1"/>
              </a:solidFill>
            </a:endParaRPr>
          </a:p>
        </p:txBody>
      </p:sp>
      <p:sp>
        <p:nvSpPr>
          <p:cNvPr id="139" name="Google Shape;139;g2e5349b7fe2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e4ecd4405b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US" sz="1600"/>
              <a:t>The goal of our project is to simulate </a:t>
            </a:r>
            <a:r>
              <a:rPr lang="en-US" sz="1600"/>
              <a:t>a robot arm that performs Automated Fiber Placement. A  crucial step of AFP is compacting the layers. This involves using a roller to press down the layers, ensuring the fibers are flush against the mold and improving mechanical performance </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Clr>
                <a:schemeClr val="dk1"/>
              </a:buClr>
              <a:buSzPts val="1100"/>
              <a:buFont typeface="Arial"/>
              <a:buNone/>
            </a:pPr>
            <a:r>
              <a:rPr lang="en-US" sz="1600"/>
              <a:t>The rolling action is automated. However, the mold’s curved shape often requires the robot to follow unconventional trajectories. To handle this, we generate various trajectories that represent different fiber directions. This allows us to adapt the robot's path to the mold’s contours effectively.</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Clr>
                <a:schemeClr val="dk1"/>
              </a:buClr>
              <a:buSzPts val="1100"/>
              <a:buFont typeface="Arial"/>
              <a:buNone/>
            </a:pPr>
            <a:r>
              <a:rPr lang="en-US" sz="1600"/>
              <a:t>Additionally, we modeled the force interactions between the robot’s end effector and its environment. This is critical for demonstrating the impedance controller, which ensures that the correct amount of force is applied consistently, regardless of the mold’s complexity or the trajectory changes.</a:t>
            </a:r>
            <a:endParaRPr sz="1600"/>
          </a:p>
          <a:p>
            <a:pPr indent="0" lvl="0" marL="0" rtl="0" algn="l">
              <a:spcBef>
                <a:spcPts val="0"/>
              </a:spcBef>
              <a:spcAft>
                <a:spcPts val="0"/>
              </a:spcAft>
              <a:buClr>
                <a:schemeClr val="dk1"/>
              </a:buClr>
              <a:buSzPts val="1100"/>
              <a:buFont typeface="Arial"/>
              <a:buNone/>
            </a:pPr>
            <a:r>
              <a:t/>
            </a:r>
            <a:endParaRPr sz="1600"/>
          </a:p>
          <a:p>
            <a:pPr indent="0" lvl="0" marL="0" rtl="0" algn="l">
              <a:lnSpc>
                <a:spcPct val="100000"/>
              </a:lnSpc>
              <a:spcBef>
                <a:spcPts val="0"/>
              </a:spcBef>
              <a:spcAft>
                <a:spcPts val="0"/>
              </a:spcAft>
              <a:buSzPts val="1100"/>
              <a:buNone/>
            </a:pPr>
            <a:r>
              <a:t/>
            </a:r>
            <a:endParaRPr sz="1600"/>
          </a:p>
        </p:txBody>
      </p:sp>
      <p:sp>
        <p:nvSpPr>
          <p:cNvPr id="157" name="Google Shape;157;g2e4ecd4405b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737952f2e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2737952f2e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e5217d4d04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talk about creating mesh from pointcloud using ball-pivoting method</a:t>
            </a:r>
            <a:endParaRPr/>
          </a:p>
          <a:p>
            <a:pPr indent="0" lvl="0" marL="0" rtl="0" algn="l">
              <a:lnSpc>
                <a:spcPct val="100000"/>
              </a:lnSpc>
              <a:spcBef>
                <a:spcPts val="0"/>
              </a:spcBef>
              <a:spcAft>
                <a:spcPts val="0"/>
              </a:spcAft>
              <a:buSzPts val="1100"/>
              <a:buNone/>
            </a:pPr>
            <a:r>
              <a:rPr lang="en-US"/>
              <a:t>	calculated normals and converted to vtk for drake hydroelastic force sensing models</a:t>
            </a:r>
            <a:endParaRPr/>
          </a:p>
          <a:p>
            <a:pPr indent="457200" lvl="0" marL="0" rtl="0" algn="l">
              <a:lnSpc>
                <a:spcPct val="100000"/>
              </a:lnSpc>
              <a:spcBef>
                <a:spcPts val="0"/>
              </a:spcBef>
              <a:spcAft>
                <a:spcPts val="0"/>
              </a:spcAft>
              <a:buSzPts val="1100"/>
              <a:buNone/>
            </a:pPr>
            <a:r>
              <a:rPr lang="en-US"/>
              <a:t>created meshes for planar mold as well for preliminary testing</a:t>
            </a:r>
            <a:endParaRPr/>
          </a:p>
        </p:txBody>
      </p:sp>
      <p:sp>
        <p:nvSpPr>
          <p:cNvPr id="188" name="Google Shape;188;g2e5217d4d04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e4ecd4405b_0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US">
                <a:solidFill>
                  <a:schemeClr val="dk1"/>
                </a:solidFill>
              </a:rPr>
              <a:t>Generated paths consist only of points for each pass on mold surface; additional waypoints added to transition between passes</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Full trajectories generated with trapezoidal velocity profiles using maximum allowable rolling velocity and free space translational velocity</a:t>
            </a:r>
            <a:endParaRPr>
              <a:solidFill>
                <a:schemeClr val="dk1"/>
              </a:solidFill>
            </a:endParaRPr>
          </a:p>
          <a:p>
            <a:pPr indent="0" lvl="0" marL="0" rtl="0" algn="l">
              <a:lnSpc>
                <a:spcPct val="100000"/>
              </a:lnSpc>
              <a:spcBef>
                <a:spcPts val="0"/>
              </a:spcBef>
              <a:spcAft>
                <a:spcPts val="0"/>
              </a:spcAft>
              <a:buSzPts val="1100"/>
              <a:buNone/>
            </a:pPr>
            <a:r>
              <a:rPr lang="en-US"/>
              <a:t>Controller testing plan with simplified test cases using planar mold:</a:t>
            </a:r>
            <a:endParaRPr/>
          </a:p>
          <a:p>
            <a:pPr indent="0" lvl="0" marL="0" rtl="0" algn="l">
              <a:lnSpc>
                <a:spcPct val="100000"/>
              </a:lnSpc>
              <a:spcBef>
                <a:spcPts val="0"/>
              </a:spcBef>
              <a:spcAft>
                <a:spcPts val="0"/>
              </a:spcAft>
              <a:buSzPts val="1100"/>
              <a:buNone/>
            </a:pPr>
            <a:r>
              <a:rPr lang="en-US"/>
              <a:t>	Vertical push test against planar mold</a:t>
            </a:r>
            <a:endParaRPr/>
          </a:p>
          <a:p>
            <a:pPr indent="0" lvl="0" marL="0" rtl="0" algn="l">
              <a:lnSpc>
                <a:spcPct val="100000"/>
              </a:lnSpc>
              <a:spcBef>
                <a:spcPts val="0"/>
              </a:spcBef>
              <a:spcAft>
                <a:spcPts val="0"/>
              </a:spcAft>
              <a:buSzPts val="1100"/>
              <a:buNone/>
            </a:pPr>
            <a:r>
              <a:rPr lang="en-US"/>
              <a:t>	Single pass on planar surface (not shown)</a:t>
            </a:r>
            <a:endParaRPr/>
          </a:p>
          <a:p>
            <a:pPr indent="457200" lvl="0" marL="0" rtl="0" algn="l">
              <a:spcBef>
                <a:spcPts val="0"/>
              </a:spcBef>
              <a:spcAft>
                <a:spcPts val="0"/>
              </a:spcAft>
              <a:buSzPts val="1100"/>
              <a:buNone/>
            </a:pPr>
            <a:r>
              <a:rPr lang="en-US">
                <a:solidFill>
                  <a:schemeClr val="dk1"/>
                </a:solidFill>
              </a:rPr>
              <a:t>Planar mold with full trajectory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206" name="Google Shape;206;g2e4ecd4405b_0_1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e4ecd4405b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For this controller to be </a:t>
            </a:r>
            <a:r>
              <a:rPr lang="en-US"/>
              <a:t>successful</a:t>
            </a:r>
            <a:r>
              <a:rPr lang="en-US"/>
              <a:t>, we need to first ensure that the roller can’t inflict any defect on the mold. So the force at the </a:t>
            </a:r>
            <a:r>
              <a:rPr lang="en-US"/>
              <a:t>end effector must be monitored and controlled. We also want the roller to be able to traverse different trajectory</a:t>
            </a:r>
            <a:br>
              <a:rPr lang="en-US"/>
            </a:br>
            <a:r>
              <a:rPr lang="en-US"/>
              <a:t>These objectives feed into our assumptions to simplify the problems as much as possible </a:t>
            </a:r>
            <a:endParaRPr/>
          </a:p>
        </p:txBody>
      </p:sp>
      <p:sp>
        <p:nvSpPr>
          <p:cNvPr id="223" name="Google Shape;223;g2e4ecd4405b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e5349b7fe2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We decided to use an impedance </a:t>
            </a:r>
            <a:r>
              <a:rPr lang="en-US"/>
              <a:t>controller</a:t>
            </a:r>
            <a:r>
              <a:rPr lang="en-US"/>
              <a:t> in the operational </a:t>
            </a:r>
            <a:r>
              <a:rPr lang="en-US"/>
              <a:t>task space since we’re trying to follow a trajectory while controlling force. We made the assumption that we would have a wrist sensor with orientation feedback, which allows output of the controller be equal to the desired acceleration. Following this, we calculated the inverse dynamics using Drake which generated. the desired torques. In the end, we are tuning the the Kp, Kd and Md gains</a:t>
            </a:r>
            <a:endParaRPr/>
          </a:p>
        </p:txBody>
      </p:sp>
      <p:sp>
        <p:nvSpPr>
          <p:cNvPr id="236" name="Google Shape;236;g2e5349b7fe2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e4ecd4405b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 simulation was done in python with Pydrake. The robot arm URDF was taken off from a database. The mold was generated </a:t>
            </a:r>
            <a:r>
              <a:rPr lang="en-US"/>
              <a:t>separately</a:t>
            </a:r>
            <a:r>
              <a:rPr lang="en-US"/>
              <a:t> and ported into a SDF file which was then added into the </a:t>
            </a:r>
            <a:r>
              <a:rPr lang="en-US"/>
              <a:t>plant</a:t>
            </a:r>
            <a:r>
              <a:rPr lang="en-US"/>
              <a:t>. The </a:t>
            </a:r>
            <a:r>
              <a:rPr lang="en-US"/>
              <a:t>whole</a:t>
            </a:r>
            <a:r>
              <a:rPr lang="en-US"/>
              <a:t> idea here is to utilize drake’s multibody plant </a:t>
            </a:r>
            <a:r>
              <a:rPr lang="en-US"/>
              <a:t>function to build the environment. The environment was built off the following assumption. The roller is assumed to be rrigid while the mold is assumed to compliant in the hydrostatic force model. We also utilized drakes’s in built contact model to simulate the force sensing </a:t>
            </a:r>
            <a:endParaRPr/>
          </a:p>
        </p:txBody>
      </p:sp>
      <p:sp>
        <p:nvSpPr>
          <p:cNvPr id="252" name="Google Shape;252;g2e4ecd4405b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e4ecd4405b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Demo: jerkiness in path is due to untuned gains, high v_freespace in trajectory design compared to v_roll, roller speed </a:t>
            </a:r>
            <a:endParaRPr/>
          </a:p>
        </p:txBody>
      </p:sp>
      <p:sp>
        <p:nvSpPr>
          <p:cNvPr id="268" name="Google Shape;268;g2e4ecd4405b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e4ecd4405b_0_1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g2e4ecd4405b_0_1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e4ecd4405b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Rebecca</a:t>
            </a:r>
            <a:endParaRPr/>
          </a:p>
        </p:txBody>
      </p:sp>
      <p:sp>
        <p:nvSpPr>
          <p:cNvPr id="298" name="Google Shape;298;g2e4ecd4405b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3" name="Google Shape;13;p1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4" name="Google Shape;14;p1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7" name="Google Shape;17;p17"/>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18" name="Google Shape;18;p17"/>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9" name="Google Shape;19;p17"/>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0" name="Google Shape;20;p1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3" name="Google Shape;23;p18"/>
          <p:cNvSpPr txBox="1"/>
          <p:nvPr>
            <p:ph idx="1" type="body"/>
          </p:nvPr>
        </p:nvSpPr>
        <p:spPr>
          <a:xfrm>
            <a:off x="228600" y="800100"/>
            <a:ext cx="4114800" cy="2262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24" name="Google Shape;24;p1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5" name="Google Shape;25;p1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6" name="Google Shape;26;p1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9" name="Google Shape;29;p19"/>
          <p:cNvSpPr txBox="1"/>
          <p:nvPr>
            <p:ph idx="1" type="body"/>
          </p:nvPr>
        </p:nvSpPr>
        <p:spPr>
          <a:xfrm>
            <a:off x="361156" y="1453357"/>
            <a:ext cx="3886200" cy="7500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30" name="Google Shape;30;p1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1" name="Google Shape;31;p1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2" name="Google Shape;32;p1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5" name="Google Shape;35;p20"/>
          <p:cNvSpPr txBox="1"/>
          <p:nvPr>
            <p:ph idx="1" type="body"/>
          </p:nvPr>
        </p:nvSpPr>
        <p:spPr>
          <a:xfrm>
            <a:off x="228600" y="800100"/>
            <a:ext cx="2019300" cy="2262900"/>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36" name="Google Shape;36;p20"/>
          <p:cNvSpPr txBox="1"/>
          <p:nvPr>
            <p:ph idx="2" type="body"/>
          </p:nvPr>
        </p:nvSpPr>
        <p:spPr>
          <a:xfrm>
            <a:off x="2324100" y="800100"/>
            <a:ext cx="2019300" cy="2262900"/>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37" name="Google Shape;37;p2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8" name="Google Shape;38;p2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9" name="Google Shape;39;p2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2" name="Google Shape;42;p21"/>
          <p:cNvSpPr txBox="1"/>
          <p:nvPr>
            <p:ph idx="1" type="body"/>
          </p:nvPr>
        </p:nvSpPr>
        <p:spPr>
          <a:xfrm>
            <a:off x="228600" y="767556"/>
            <a:ext cx="2020200" cy="3198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43" name="Google Shape;43;p21"/>
          <p:cNvSpPr txBox="1"/>
          <p:nvPr>
            <p:ph idx="2" type="body"/>
          </p:nvPr>
        </p:nvSpPr>
        <p:spPr>
          <a:xfrm>
            <a:off x="228600" y="1087438"/>
            <a:ext cx="2020200" cy="19755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44" name="Google Shape;44;p21"/>
          <p:cNvSpPr txBox="1"/>
          <p:nvPr>
            <p:ph idx="3" type="body"/>
          </p:nvPr>
        </p:nvSpPr>
        <p:spPr>
          <a:xfrm>
            <a:off x="2322513" y="767556"/>
            <a:ext cx="2020800" cy="3198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45" name="Google Shape;45;p21"/>
          <p:cNvSpPr txBox="1"/>
          <p:nvPr>
            <p:ph idx="4" type="body"/>
          </p:nvPr>
        </p:nvSpPr>
        <p:spPr>
          <a:xfrm>
            <a:off x="2322513" y="1087438"/>
            <a:ext cx="2020800" cy="19755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46" name="Google Shape;46;p2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7" name="Google Shape;47;p2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8" name="Google Shape;48;p2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1" name="Google Shape;51;p2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2" name="Google Shape;52;p2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3" name="Google Shape;53;p2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6" name="Google Shape;56;p23"/>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57" name="Google Shape;57;p23"/>
          <p:cNvSpPr txBox="1"/>
          <p:nvPr>
            <p:ph idx="2" type="body"/>
          </p:nvPr>
        </p:nvSpPr>
        <p:spPr>
          <a:xfrm>
            <a:off x="228600" y="717550"/>
            <a:ext cx="1504200" cy="234540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58" name="Google Shape;58;p2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9" name="Google Shape;59;p2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0" name="Google Shape;60;p2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3" name="Google Shape;63;p24"/>
          <p:cNvSpPr/>
          <p:nvPr>
            <p:ph idx="2" type="pic"/>
          </p:nvPr>
        </p:nvSpPr>
        <p:spPr>
          <a:xfrm>
            <a:off x="896144" y="306388"/>
            <a:ext cx="2743200" cy="2057400"/>
          </a:xfrm>
          <a:prstGeom prst="rect">
            <a:avLst/>
          </a:prstGeom>
          <a:noFill/>
          <a:ln>
            <a:noFill/>
          </a:ln>
        </p:spPr>
      </p:sp>
      <p:sp>
        <p:nvSpPr>
          <p:cNvPr id="64" name="Google Shape;64;p24"/>
          <p:cNvSpPr txBox="1"/>
          <p:nvPr>
            <p:ph idx="1" type="body"/>
          </p:nvPr>
        </p:nvSpPr>
        <p:spPr>
          <a:xfrm>
            <a:off x="896144" y="2683669"/>
            <a:ext cx="2743200" cy="40230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65" name="Google Shape;65;p2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6" name="Google Shape;66;p2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7" name="Google Shape;67;p2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0" name="Google Shape;70;p25"/>
          <p:cNvSpPr txBox="1"/>
          <p:nvPr>
            <p:ph idx="1" type="body"/>
          </p:nvPr>
        </p:nvSpPr>
        <p:spPr>
          <a:xfrm rot="5400000">
            <a:off x="1154550" y="-125850"/>
            <a:ext cx="2262900"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71" name="Google Shape;71;p2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2" name="Google Shape;72;p2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3" name="Google Shape;73;p2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6" name="Google Shape;76;p26"/>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77" name="Google Shape;77;p2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8" name="Google Shape;78;p2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9" name="Google Shape;79;p2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g2e5217d4d04_0_68"/>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g2e5217d4d04_0_68"/>
          <p:cNvSpPr txBox="1"/>
          <p:nvPr>
            <p:ph type="title"/>
          </p:nvPr>
        </p:nvSpPr>
        <p:spPr>
          <a:xfrm>
            <a:off x="311700" y="372500"/>
            <a:ext cx="8520600" cy="733500"/>
          </a:xfrm>
          <a:prstGeom prst="rect">
            <a:avLst/>
          </a:prstGeom>
        </p:spPr>
        <p:txBody>
          <a:bodyPr anchorCtr="0" anchor="ctr" bIns="22850" lIns="45725" spcFirstLastPara="1" rIns="45725" wrap="square" tIns="22850">
            <a:normAutofit/>
          </a:bodyPr>
          <a:lstStyle>
            <a:lvl1pPr lvl="0" rtl="0">
              <a:spcBef>
                <a:spcPts val="0"/>
              </a:spcBef>
              <a:spcAft>
                <a:spcPts val="0"/>
              </a:spcAft>
              <a:buSzPts val="22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83" name="Google Shape;83;g2e5217d4d04_0_68"/>
          <p:cNvSpPr txBox="1"/>
          <p:nvPr>
            <p:ph idx="1" type="body"/>
          </p:nvPr>
        </p:nvSpPr>
        <p:spPr>
          <a:xfrm>
            <a:off x="311700" y="1468825"/>
            <a:ext cx="8520600" cy="3099900"/>
          </a:xfrm>
          <a:prstGeom prst="rect">
            <a:avLst/>
          </a:prstGeom>
        </p:spPr>
        <p:txBody>
          <a:bodyPr anchorCtr="0" anchor="t" bIns="22850" lIns="45725" spcFirstLastPara="1" rIns="45725" wrap="square" tIns="22850">
            <a:normAutofit/>
          </a:bodyPr>
          <a:lstStyle>
            <a:lvl1pPr indent="-330200" lvl="0" marL="457200" rtl="0">
              <a:spcBef>
                <a:spcPts val="300"/>
              </a:spcBef>
              <a:spcAft>
                <a:spcPts val="0"/>
              </a:spcAft>
              <a:buSzPts val="1600"/>
              <a:buChar char="•"/>
              <a:defRPr/>
            </a:lvl1pPr>
            <a:lvl2pPr indent="-317500" lvl="1" marL="914400" rtl="0">
              <a:spcBef>
                <a:spcPts val="300"/>
              </a:spcBef>
              <a:spcAft>
                <a:spcPts val="0"/>
              </a:spcAft>
              <a:buSzPts val="1400"/>
              <a:buChar char="–"/>
              <a:defRPr/>
            </a:lvl2pPr>
            <a:lvl3pPr indent="-304800" lvl="2" marL="1371600" rtl="0">
              <a:spcBef>
                <a:spcPts val="200"/>
              </a:spcBef>
              <a:spcAft>
                <a:spcPts val="0"/>
              </a:spcAft>
              <a:buSzPts val="1200"/>
              <a:buChar char="•"/>
              <a:defRPr/>
            </a:lvl3pPr>
            <a:lvl4pPr indent="-292100" lvl="3" marL="1828800" rtl="0">
              <a:spcBef>
                <a:spcPts val="200"/>
              </a:spcBef>
              <a:spcAft>
                <a:spcPts val="0"/>
              </a:spcAft>
              <a:buSzPts val="1000"/>
              <a:buChar char="–"/>
              <a:defRPr/>
            </a:lvl4pPr>
            <a:lvl5pPr indent="-292100" lvl="4" marL="2286000" rtl="0">
              <a:spcBef>
                <a:spcPts val="200"/>
              </a:spcBef>
              <a:spcAft>
                <a:spcPts val="0"/>
              </a:spcAft>
              <a:buSzPts val="1000"/>
              <a:buChar char="»"/>
              <a:defRPr/>
            </a:lvl5pPr>
            <a:lvl6pPr indent="-292100" lvl="5" marL="2743200" rtl="0">
              <a:spcBef>
                <a:spcPts val="200"/>
              </a:spcBef>
              <a:spcAft>
                <a:spcPts val="0"/>
              </a:spcAft>
              <a:buSzPts val="1000"/>
              <a:buChar char="•"/>
              <a:defRPr/>
            </a:lvl6pPr>
            <a:lvl7pPr indent="-292100" lvl="6" marL="3200400" rtl="0">
              <a:spcBef>
                <a:spcPts val="200"/>
              </a:spcBef>
              <a:spcAft>
                <a:spcPts val="0"/>
              </a:spcAft>
              <a:buSzPts val="1000"/>
              <a:buChar char="•"/>
              <a:defRPr/>
            </a:lvl7pPr>
            <a:lvl8pPr indent="-292100" lvl="7" marL="3657600" rtl="0">
              <a:spcBef>
                <a:spcPts val="200"/>
              </a:spcBef>
              <a:spcAft>
                <a:spcPts val="0"/>
              </a:spcAft>
              <a:buSzPts val="1000"/>
              <a:buChar char="•"/>
              <a:defRPr/>
            </a:lvl8pPr>
            <a:lvl9pPr indent="-292100" lvl="8" marL="4114800" rtl="0">
              <a:spcBef>
                <a:spcPts val="200"/>
              </a:spcBef>
              <a:spcAft>
                <a:spcPts val="0"/>
              </a:spcAft>
              <a:buSzPts val="1000"/>
              <a:buChar char="•"/>
              <a:defRPr/>
            </a:lvl9pPr>
          </a:lstStyle>
          <a:p/>
        </p:txBody>
      </p:sp>
      <p:sp>
        <p:nvSpPr>
          <p:cNvPr id="84" name="Google Shape;84;g2e5217d4d04_0_68"/>
          <p:cNvSpPr txBox="1"/>
          <p:nvPr>
            <p:ph idx="12" type="sldNum"/>
          </p:nvPr>
        </p:nvSpPr>
        <p:spPr>
          <a:xfrm>
            <a:off x="8472458" y="4663217"/>
            <a:ext cx="548700" cy="393600"/>
          </a:xfrm>
          <a:prstGeom prst="rect">
            <a:avLst/>
          </a:prstGeom>
        </p:spPr>
        <p:txBody>
          <a:bodyPr anchorCtr="0" anchor="ctr" bIns="22850" lIns="45725" spcFirstLastPara="1" rIns="45725" wrap="square" tIns="2285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7" name="Google Shape;7;p15"/>
          <p:cNvSpPr txBox="1"/>
          <p:nvPr>
            <p:ph idx="1" type="body"/>
          </p:nvPr>
        </p:nvSpPr>
        <p:spPr>
          <a:xfrm>
            <a:off x="228600" y="800100"/>
            <a:ext cx="4114800" cy="2262900"/>
          </a:xfrm>
          <a:prstGeom prst="rect">
            <a:avLst/>
          </a:prstGeom>
          <a:noFill/>
          <a:ln>
            <a:noFill/>
          </a:ln>
        </p:spPr>
        <p:txBody>
          <a:bodyPr anchorCtr="0" anchor="t" bIns="22850" lIns="45725" spcFirstLastPara="1" rIns="45725" wrap="square" tIns="22850">
            <a:normAutofit/>
          </a:bodyPr>
          <a:lstStyle>
            <a:lvl1pPr indent="-330200" lvl="0" marL="457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9.jpg"/><Relationship Id="rId5" Type="http://schemas.openxmlformats.org/officeDocument/2006/relationships/image" Target="../media/image22.gif"/><Relationship Id="rId6" Type="http://schemas.openxmlformats.org/officeDocument/2006/relationships/hyperlink" Target="https://doi.org/10.1016/j.compstruct.2020.112394" TargetMode="External"/><Relationship Id="rId7" Type="http://schemas.openxmlformats.org/officeDocument/2006/relationships/hyperlink" Target="https://doi.org/10.1016/j.rcim.2020.10202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hyperlink" Target="https://doi.org/10.1016/j.rcim.2020.10202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18.png"/><Relationship Id="rId7" Type="http://schemas.openxmlformats.org/officeDocument/2006/relationships/hyperlink" Target="https://doi.org/10.1016/j.rcim.2020.10202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hyperlink" Target="https://github.com/Daniella1/urdf_files_dataset" TargetMode="External"/><Relationship Id="rId5" Type="http://schemas.openxmlformats.org/officeDocument/2006/relationships/image" Target="../media/image8.png"/><Relationship Id="rId6" Type="http://schemas.openxmlformats.org/officeDocument/2006/relationships/hyperlink" Target="https://github.com/Daniella1/urdf_files_datase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hyperlink" Target="https://drive.google.com/file/d/1owgalPN651WX1Bi8SozXciTqUSQzcvMu/view?usp=sharing" TargetMode="External"/><Relationship Id="rId5" Type="http://schemas.openxmlformats.org/officeDocument/2006/relationships/image" Target="../media/image7.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p:nvPr/>
        </p:nvSpPr>
        <p:spPr>
          <a:xfrm rot="10800000">
            <a:off x="0" y="0"/>
            <a:ext cx="9144000" cy="51435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38880" l="0" r="0" t="-38884"/>
            </a:stretch>
          </a:blipFill>
          <a:ln>
            <a:noFill/>
          </a:ln>
        </p:spPr>
      </p:sp>
      <p:grpSp>
        <p:nvGrpSpPr>
          <p:cNvPr id="90" name="Google Shape;90;p1"/>
          <p:cNvGrpSpPr/>
          <p:nvPr/>
        </p:nvGrpSpPr>
        <p:grpSpPr>
          <a:xfrm>
            <a:off x="1874000" y="1171639"/>
            <a:ext cx="5396109" cy="2194053"/>
            <a:chOff x="0" y="-19050"/>
            <a:chExt cx="1919572" cy="831900"/>
          </a:xfrm>
        </p:grpSpPr>
        <p:sp>
          <p:nvSpPr>
            <p:cNvPr id="91" name="Google Shape;91;p1"/>
            <p:cNvSpPr/>
            <p:nvPr/>
          </p:nvSpPr>
          <p:spPr>
            <a:xfrm>
              <a:off x="0" y="0"/>
              <a:ext cx="1895495" cy="812800"/>
            </a:xfrm>
            <a:custGeom>
              <a:rect b="b" l="l" r="r" t="t"/>
              <a:pathLst>
                <a:path extrusionOk="0" h="812800" w="1895495">
                  <a:moveTo>
                    <a:pt x="0" y="0"/>
                  </a:moveTo>
                  <a:lnTo>
                    <a:pt x="1895495" y="0"/>
                  </a:lnTo>
                  <a:lnTo>
                    <a:pt x="1895495" y="812800"/>
                  </a:lnTo>
                  <a:lnTo>
                    <a:pt x="0" y="812800"/>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92" name="Google Shape;92;p1"/>
            <p:cNvSpPr txBox="1"/>
            <p:nvPr/>
          </p:nvSpPr>
          <p:spPr>
            <a:xfrm>
              <a:off x="24172" y="-19050"/>
              <a:ext cx="18954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93" name="Google Shape;93;p1"/>
          <p:cNvSpPr/>
          <p:nvPr/>
        </p:nvSpPr>
        <p:spPr>
          <a:xfrm rot="7660416">
            <a:off x="7554188" y="2794961"/>
            <a:ext cx="3807392" cy="3906839"/>
          </a:xfrm>
          <a:custGeom>
            <a:rect b="b" l="l" r="r" t="t"/>
            <a:pathLst>
              <a:path extrusionOk="0" h="7828566" w="7629294">
                <a:moveTo>
                  <a:pt x="0" y="0"/>
                </a:moveTo>
                <a:lnTo>
                  <a:pt x="7629294" y="0"/>
                </a:lnTo>
                <a:lnTo>
                  <a:pt x="7629294" y="7828566"/>
                </a:lnTo>
                <a:lnTo>
                  <a:pt x="0" y="7828566"/>
                </a:lnTo>
                <a:lnTo>
                  <a:pt x="0" y="0"/>
                </a:lnTo>
                <a:close/>
              </a:path>
            </a:pathLst>
          </a:custGeom>
          <a:blipFill rotWithShape="1">
            <a:blip r:embed="rId4">
              <a:alphaModFix/>
            </a:blip>
            <a:stretch>
              <a:fillRect b="0" l="0" r="0" t="0"/>
            </a:stretch>
          </a:blipFill>
          <a:ln>
            <a:noFill/>
          </a:ln>
        </p:spPr>
      </p:sp>
      <p:sp>
        <p:nvSpPr>
          <p:cNvPr id="94" name="Google Shape;94;p1"/>
          <p:cNvSpPr txBox="1"/>
          <p:nvPr/>
        </p:nvSpPr>
        <p:spPr>
          <a:xfrm>
            <a:off x="2118150" y="1379787"/>
            <a:ext cx="4907700" cy="17778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dk1"/>
              </a:buClr>
              <a:buSzPts val="600"/>
              <a:buFont typeface="Arial"/>
              <a:buNone/>
            </a:pPr>
            <a:r>
              <a:rPr b="1" lang="en-US" sz="3500">
                <a:solidFill>
                  <a:srgbClr val="231F20"/>
                </a:solidFill>
                <a:latin typeface="Oswald"/>
                <a:ea typeface="Oswald"/>
                <a:cs typeface="Oswald"/>
                <a:sym typeface="Oswald"/>
              </a:rPr>
              <a:t>Robotic Arm for Automated Fiber Placement</a:t>
            </a:r>
            <a:endParaRPr b="1" sz="3500">
              <a:solidFill>
                <a:srgbClr val="231F20"/>
              </a:solidFill>
              <a:latin typeface="Oswald"/>
              <a:ea typeface="Oswald"/>
              <a:cs typeface="Oswald"/>
              <a:sym typeface="Oswald"/>
            </a:endParaRPr>
          </a:p>
        </p:txBody>
      </p:sp>
      <p:sp>
        <p:nvSpPr>
          <p:cNvPr id="95" name="Google Shape;95;p1"/>
          <p:cNvSpPr txBox="1"/>
          <p:nvPr/>
        </p:nvSpPr>
        <p:spPr>
          <a:xfrm>
            <a:off x="1359823" y="3591117"/>
            <a:ext cx="6424500" cy="215400"/>
          </a:xfrm>
          <a:prstGeom prst="rect">
            <a:avLst/>
          </a:prstGeom>
          <a:noFill/>
          <a:ln>
            <a:noFill/>
          </a:ln>
        </p:spPr>
        <p:txBody>
          <a:bodyPr anchorCtr="0" anchor="t" bIns="0" lIns="0" spcFirstLastPara="1" rIns="0" wrap="square" tIns="0">
            <a:spAutoFit/>
          </a:bodyPr>
          <a:lstStyle/>
          <a:p>
            <a:pPr indent="0" lvl="0" marL="0" marR="0" rtl="0" algn="ctr">
              <a:lnSpc>
                <a:spcPct val="137994"/>
              </a:lnSpc>
              <a:spcBef>
                <a:spcPts val="0"/>
              </a:spcBef>
              <a:spcAft>
                <a:spcPts val="0"/>
              </a:spcAft>
              <a:buClr>
                <a:srgbClr val="000000"/>
              </a:buClr>
              <a:buSzPts val="1300"/>
              <a:buFont typeface="Arial"/>
              <a:buNone/>
            </a:pPr>
            <a:r>
              <a:rPr b="1" lang="en-US">
                <a:solidFill>
                  <a:srgbClr val="231F20"/>
                </a:solidFill>
                <a:latin typeface="Montserrat"/>
                <a:ea typeface="Montserrat"/>
                <a:cs typeface="Montserrat"/>
                <a:sym typeface="Montserrat"/>
              </a:rPr>
              <a:t>Team 3</a:t>
            </a:r>
            <a:endParaRPr b="0" i="0" u="none" cap="none" strike="noStrike">
              <a:solidFill>
                <a:srgbClr val="000000"/>
              </a:solidFill>
              <a:latin typeface="Arial"/>
              <a:ea typeface="Arial"/>
              <a:cs typeface="Arial"/>
              <a:sym typeface="Arial"/>
            </a:endParaRPr>
          </a:p>
        </p:txBody>
      </p:sp>
      <p:sp>
        <p:nvSpPr>
          <p:cNvPr id="96" name="Google Shape;96;p1"/>
          <p:cNvSpPr txBox="1"/>
          <p:nvPr/>
        </p:nvSpPr>
        <p:spPr>
          <a:xfrm>
            <a:off x="1359823" y="3987167"/>
            <a:ext cx="6424500" cy="215400"/>
          </a:xfrm>
          <a:prstGeom prst="rect">
            <a:avLst/>
          </a:prstGeom>
          <a:noFill/>
          <a:ln>
            <a:noFill/>
          </a:ln>
        </p:spPr>
        <p:txBody>
          <a:bodyPr anchorCtr="0" anchor="t" bIns="0" lIns="0" spcFirstLastPara="1" rIns="0" wrap="square" tIns="0">
            <a:spAutoFit/>
          </a:bodyPr>
          <a:lstStyle/>
          <a:p>
            <a:pPr indent="0" lvl="0" marL="0" rtl="0" algn="ctr">
              <a:lnSpc>
                <a:spcPct val="137994"/>
              </a:lnSpc>
              <a:spcBef>
                <a:spcPts val="0"/>
              </a:spcBef>
              <a:spcAft>
                <a:spcPts val="0"/>
              </a:spcAft>
              <a:buClr>
                <a:schemeClr val="dk1"/>
              </a:buClr>
              <a:buSzPts val="600"/>
              <a:buFont typeface="Arial"/>
              <a:buNone/>
            </a:pPr>
            <a:r>
              <a:rPr b="1" lang="en-US">
                <a:solidFill>
                  <a:srgbClr val="231F20"/>
                </a:solidFill>
                <a:latin typeface="Montserrat"/>
                <a:ea typeface="Montserrat"/>
                <a:cs typeface="Montserrat"/>
                <a:sym typeface="Montserrat"/>
              </a:rPr>
              <a:t>Matthew Hutchinson, Shirley Shah, Jae-An Wang</a:t>
            </a:r>
            <a:endParaRPr b="1">
              <a:solidFill>
                <a:srgbClr val="231F20"/>
              </a:solidFill>
              <a:latin typeface="Montserrat"/>
              <a:ea typeface="Montserrat"/>
              <a:cs typeface="Montserrat"/>
              <a:sym typeface="Montserrat"/>
            </a:endParaRPr>
          </a:p>
        </p:txBody>
      </p:sp>
      <p:sp>
        <p:nvSpPr>
          <p:cNvPr id="97" name="Google Shape;97;p1"/>
          <p:cNvSpPr/>
          <p:nvPr/>
        </p:nvSpPr>
        <p:spPr>
          <a:xfrm>
            <a:off x="-1629035" y="-2314575"/>
            <a:ext cx="4511317" cy="4629150"/>
          </a:xfrm>
          <a:custGeom>
            <a:rect b="b" l="l" r="r" t="t"/>
            <a:pathLst>
              <a:path extrusionOk="0" h="9258300" w="9022634">
                <a:moveTo>
                  <a:pt x="0" y="0"/>
                </a:moveTo>
                <a:lnTo>
                  <a:pt x="9022634" y="0"/>
                </a:lnTo>
                <a:lnTo>
                  <a:pt x="9022634" y="9258300"/>
                </a:lnTo>
                <a:lnTo>
                  <a:pt x="0" y="92583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5"/>
        </a:solidFill>
      </p:bgPr>
    </p:bg>
    <p:spTree>
      <p:nvGrpSpPr>
        <p:cNvPr id="101" name="Shape 101"/>
        <p:cNvGrpSpPr/>
        <p:nvPr/>
      </p:nvGrpSpPr>
      <p:grpSpPr>
        <a:xfrm>
          <a:off x="0" y="0"/>
          <a:ext cx="0" cy="0"/>
          <a:chOff x="0" y="0"/>
          <a:chExt cx="0" cy="0"/>
        </a:xfrm>
      </p:grpSpPr>
      <p:sp>
        <p:nvSpPr>
          <p:cNvPr id="102" name="Google Shape;102;p2"/>
          <p:cNvSpPr/>
          <p:nvPr/>
        </p:nvSpPr>
        <p:spPr>
          <a:xfrm rot="7660416">
            <a:off x="-1997629" y="2794961"/>
            <a:ext cx="3807392" cy="3906839"/>
          </a:xfrm>
          <a:custGeom>
            <a:rect b="b" l="l" r="r" t="t"/>
            <a:pathLst>
              <a:path extrusionOk="0" h="7828566" w="7629294">
                <a:moveTo>
                  <a:pt x="0" y="0"/>
                </a:moveTo>
                <a:lnTo>
                  <a:pt x="7629294" y="0"/>
                </a:lnTo>
                <a:lnTo>
                  <a:pt x="7629294" y="7828566"/>
                </a:lnTo>
                <a:lnTo>
                  <a:pt x="0" y="7828566"/>
                </a:lnTo>
                <a:lnTo>
                  <a:pt x="0" y="0"/>
                </a:lnTo>
                <a:close/>
              </a:path>
            </a:pathLst>
          </a:custGeom>
          <a:blipFill rotWithShape="1">
            <a:blip r:embed="rId3">
              <a:alphaModFix/>
            </a:blip>
            <a:stretch>
              <a:fillRect b="0" l="0" r="0" t="0"/>
            </a:stretch>
          </a:blipFill>
          <a:ln>
            <a:noFill/>
          </a:ln>
        </p:spPr>
      </p:sp>
      <p:grpSp>
        <p:nvGrpSpPr>
          <p:cNvPr id="103" name="Google Shape;103;p2"/>
          <p:cNvGrpSpPr/>
          <p:nvPr/>
        </p:nvGrpSpPr>
        <p:grpSpPr>
          <a:xfrm>
            <a:off x="2509663" y="1414686"/>
            <a:ext cx="700266" cy="2672460"/>
            <a:chOff x="0" y="-19050"/>
            <a:chExt cx="368852" cy="1729188"/>
          </a:xfrm>
        </p:grpSpPr>
        <p:sp>
          <p:nvSpPr>
            <p:cNvPr id="104" name="Google Shape;104;p2"/>
            <p:cNvSpPr/>
            <p:nvPr/>
          </p:nvSpPr>
          <p:spPr>
            <a:xfrm>
              <a:off x="0" y="0"/>
              <a:ext cx="368852" cy="1710137"/>
            </a:xfrm>
            <a:custGeom>
              <a:rect b="b" l="l" r="r" t="t"/>
              <a:pathLst>
                <a:path extrusionOk="0" h="1710137" w="368852">
                  <a:moveTo>
                    <a:pt x="0" y="0"/>
                  </a:moveTo>
                  <a:lnTo>
                    <a:pt x="368852" y="0"/>
                  </a:lnTo>
                  <a:lnTo>
                    <a:pt x="368852" y="1710137"/>
                  </a:lnTo>
                  <a:lnTo>
                    <a:pt x="0" y="1710137"/>
                  </a:lnTo>
                  <a:close/>
                </a:path>
              </a:pathLst>
            </a:custGeom>
            <a:solidFill>
              <a:srgbClr val="CCCCCC"/>
            </a:solidFill>
            <a:ln>
              <a:noFill/>
            </a:ln>
          </p:spPr>
        </p:sp>
        <p:sp>
          <p:nvSpPr>
            <p:cNvPr id="105" name="Google Shape;105;p2"/>
            <p:cNvSpPr txBox="1"/>
            <p:nvPr/>
          </p:nvSpPr>
          <p:spPr>
            <a:xfrm>
              <a:off x="0" y="-19050"/>
              <a:ext cx="368852" cy="1729188"/>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06" name="Google Shape;106;p2"/>
          <p:cNvSpPr txBox="1"/>
          <p:nvPr/>
        </p:nvSpPr>
        <p:spPr>
          <a:xfrm>
            <a:off x="2490496" y="518497"/>
            <a:ext cx="3708600" cy="769500"/>
          </a:xfrm>
          <a:prstGeom prst="rect">
            <a:avLst/>
          </a:prstGeom>
          <a:noFill/>
          <a:ln>
            <a:noFill/>
          </a:ln>
        </p:spPr>
        <p:txBody>
          <a:bodyPr anchorCtr="0" anchor="t" bIns="0" lIns="0" spcFirstLastPara="1" rIns="0" wrap="square" tIns="0">
            <a:spAutoFit/>
          </a:bodyPr>
          <a:lstStyle/>
          <a:p>
            <a:pPr indent="0" lvl="0" marL="0" marR="0" rtl="0" algn="ctr">
              <a:lnSpc>
                <a:spcPct val="138002"/>
              </a:lnSpc>
              <a:spcBef>
                <a:spcPts val="0"/>
              </a:spcBef>
              <a:spcAft>
                <a:spcPts val="0"/>
              </a:spcAft>
              <a:buClr>
                <a:srgbClr val="000000"/>
              </a:buClr>
              <a:buSzPts val="5000"/>
              <a:buFont typeface="Arial"/>
              <a:buNone/>
            </a:pPr>
            <a:r>
              <a:rPr b="1" i="0" lang="en-US" sz="5000" u="none" cap="none" strike="noStrike">
                <a:latin typeface="Oswald"/>
                <a:ea typeface="Oswald"/>
                <a:cs typeface="Oswald"/>
                <a:sym typeface="Oswald"/>
              </a:rPr>
              <a:t>CONTENT</a:t>
            </a:r>
            <a:endParaRPr b="0" i="0" sz="700" u="none" cap="none" strike="noStrike">
              <a:latin typeface="Arial"/>
              <a:ea typeface="Arial"/>
              <a:cs typeface="Arial"/>
              <a:sym typeface="Arial"/>
            </a:endParaRPr>
          </a:p>
        </p:txBody>
      </p:sp>
      <p:sp>
        <p:nvSpPr>
          <p:cNvPr id="107" name="Google Shape;107;p2"/>
          <p:cNvSpPr/>
          <p:nvPr/>
        </p:nvSpPr>
        <p:spPr>
          <a:xfrm rot="2016649">
            <a:off x="6119233" y="-498721"/>
            <a:ext cx="5388822" cy="1347206"/>
          </a:xfrm>
          <a:custGeom>
            <a:rect b="b" l="l" r="r" t="t"/>
            <a:pathLst>
              <a:path extrusionOk="0" h="2687366" w="10749463">
                <a:moveTo>
                  <a:pt x="0" y="0"/>
                </a:moveTo>
                <a:lnTo>
                  <a:pt x="10749463" y="0"/>
                </a:lnTo>
                <a:lnTo>
                  <a:pt x="10749463" y="2687365"/>
                </a:lnTo>
                <a:lnTo>
                  <a:pt x="0" y="2687365"/>
                </a:lnTo>
                <a:lnTo>
                  <a:pt x="0" y="0"/>
                </a:lnTo>
                <a:close/>
              </a:path>
            </a:pathLst>
          </a:custGeom>
          <a:blipFill rotWithShape="1">
            <a:blip r:embed="rId4">
              <a:alphaModFix/>
            </a:blip>
            <a:stretch>
              <a:fillRect b="0" l="0" r="0" t="0"/>
            </a:stretch>
          </a:blipFill>
          <a:ln>
            <a:noFill/>
          </a:ln>
        </p:spPr>
      </p:sp>
      <p:sp>
        <p:nvSpPr>
          <p:cNvPr id="108" name="Google Shape;108;p2"/>
          <p:cNvSpPr txBox="1"/>
          <p:nvPr/>
        </p:nvSpPr>
        <p:spPr>
          <a:xfrm>
            <a:off x="2615677" y="1612593"/>
            <a:ext cx="468600" cy="323100"/>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2100"/>
              <a:buFont typeface="Arial"/>
              <a:buNone/>
            </a:pPr>
            <a:r>
              <a:rPr b="1" i="0" lang="en-US" sz="2100" u="none" cap="none" strike="noStrike">
                <a:solidFill>
                  <a:srgbClr val="363636"/>
                </a:solidFill>
                <a:latin typeface="Oswald"/>
                <a:ea typeface="Oswald"/>
                <a:cs typeface="Oswald"/>
                <a:sym typeface="Oswald"/>
              </a:rPr>
              <a:t>01</a:t>
            </a:r>
            <a:endParaRPr b="0" i="0" sz="700" u="none" cap="none" strike="noStrike">
              <a:solidFill>
                <a:srgbClr val="000000"/>
              </a:solidFill>
              <a:latin typeface="Arial"/>
              <a:ea typeface="Arial"/>
              <a:cs typeface="Arial"/>
              <a:sym typeface="Arial"/>
            </a:endParaRPr>
          </a:p>
        </p:txBody>
      </p:sp>
      <p:sp>
        <p:nvSpPr>
          <p:cNvPr id="109" name="Google Shape;109;p2"/>
          <p:cNvSpPr txBox="1"/>
          <p:nvPr/>
        </p:nvSpPr>
        <p:spPr>
          <a:xfrm>
            <a:off x="2615677" y="2011152"/>
            <a:ext cx="468600" cy="323100"/>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2100"/>
              <a:buFont typeface="Arial"/>
              <a:buNone/>
            </a:pPr>
            <a:r>
              <a:rPr b="1" i="0" lang="en-US" sz="2100" u="none" cap="none" strike="noStrike">
                <a:solidFill>
                  <a:srgbClr val="363636"/>
                </a:solidFill>
                <a:latin typeface="Oswald"/>
                <a:ea typeface="Oswald"/>
                <a:cs typeface="Oswald"/>
                <a:sym typeface="Oswald"/>
              </a:rPr>
              <a:t>02</a:t>
            </a:r>
            <a:endParaRPr b="0" i="0" sz="700" u="none" cap="none" strike="noStrike">
              <a:solidFill>
                <a:srgbClr val="000000"/>
              </a:solidFill>
              <a:latin typeface="Arial"/>
              <a:ea typeface="Arial"/>
              <a:cs typeface="Arial"/>
              <a:sym typeface="Arial"/>
            </a:endParaRPr>
          </a:p>
        </p:txBody>
      </p:sp>
      <p:sp>
        <p:nvSpPr>
          <p:cNvPr id="110" name="Google Shape;110;p2"/>
          <p:cNvSpPr txBox="1"/>
          <p:nvPr/>
        </p:nvSpPr>
        <p:spPr>
          <a:xfrm>
            <a:off x="2615677" y="2451731"/>
            <a:ext cx="468600" cy="323100"/>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2100"/>
              <a:buFont typeface="Arial"/>
              <a:buNone/>
            </a:pPr>
            <a:r>
              <a:rPr b="1" i="0" lang="en-US" sz="2100" u="none" cap="none" strike="noStrike">
                <a:solidFill>
                  <a:srgbClr val="363636"/>
                </a:solidFill>
                <a:latin typeface="Oswald"/>
                <a:ea typeface="Oswald"/>
                <a:cs typeface="Oswald"/>
                <a:sym typeface="Oswald"/>
              </a:rPr>
              <a:t>03</a:t>
            </a:r>
            <a:endParaRPr b="0" i="0" sz="700" u="none" cap="none" strike="noStrike">
              <a:solidFill>
                <a:srgbClr val="000000"/>
              </a:solidFill>
              <a:latin typeface="Arial"/>
              <a:ea typeface="Arial"/>
              <a:cs typeface="Arial"/>
              <a:sym typeface="Arial"/>
            </a:endParaRPr>
          </a:p>
        </p:txBody>
      </p:sp>
      <p:sp>
        <p:nvSpPr>
          <p:cNvPr id="111" name="Google Shape;111;p2"/>
          <p:cNvSpPr txBox="1"/>
          <p:nvPr/>
        </p:nvSpPr>
        <p:spPr>
          <a:xfrm>
            <a:off x="2615677" y="2850290"/>
            <a:ext cx="468600" cy="323100"/>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2100"/>
              <a:buFont typeface="Arial"/>
              <a:buNone/>
            </a:pPr>
            <a:r>
              <a:rPr b="1" i="0" lang="en-US" sz="2100" u="none" cap="none" strike="noStrike">
                <a:solidFill>
                  <a:srgbClr val="363636"/>
                </a:solidFill>
                <a:latin typeface="Oswald"/>
                <a:ea typeface="Oswald"/>
                <a:cs typeface="Oswald"/>
                <a:sym typeface="Oswald"/>
              </a:rPr>
              <a:t>04</a:t>
            </a:r>
            <a:endParaRPr b="0" i="0" sz="700" u="none" cap="none" strike="noStrike">
              <a:solidFill>
                <a:srgbClr val="000000"/>
              </a:solidFill>
              <a:latin typeface="Arial"/>
              <a:ea typeface="Arial"/>
              <a:cs typeface="Arial"/>
              <a:sym typeface="Arial"/>
            </a:endParaRPr>
          </a:p>
        </p:txBody>
      </p:sp>
      <p:sp>
        <p:nvSpPr>
          <p:cNvPr id="112" name="Google Shape;112;p2"/>
          <p:cNvSpPr txBox="1"/>
          <p:nvPr/>
        </p:nvSpPr>
        <p:spPr>
          <a:xfrm>
            <a:off x="2625477" y="3246479"/>
            <a:ext cx="468600" cy="323100"/>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2100"/>
              <a:buFont typeface="Arial"/>
              <a:buNone/>
            </a:pPr>
            <a:r>
              <a:rPr b="1" i="0" lang="en-US" sz="2100" u="none" cap="none" strike="noStrike">
                <a:solidFill>
                  <a:srgbClr val="363636"/>
                </a:solidFill>
                <a:latin typeface="Oswald"/>
                <a:ea typeface="Oswald"/>
                <a:cs typeface="Oswald"/>
                <a:sym typeface="Oswald"/>
              </a:rPr>
              <a:t>05</a:t>
            </a:r>
            <a:endParaRPr b="0" i="0" sz="700" u="none" cap="none" strike="noStrike">
              <a:solidFill>
                <a:srgbClr val="000000"/>
              </a:solidFill>
              <a:latin typeface="Arial"/>
              <a:ea typeface="Arial"/>
              <a:cs typeface="Arial"/>
              <a:sym typeface="Arial"/>
            </a:endParaRPr>
          </a:p>
        </p:txBody>
      </p:sp>
      <p:sp>
        <p:nvSpPr>
          <p:cNvPr id="113" name="Google Shape;113;p2"/>
          <p:cNvSpPr txBox="1"/>
          <p:nvPr/>
        </p:nvSpPr>
        <p:spPr>
          <a:xfrm>
            <a:off x="2625477" y="3661961"/>
            <a:ext cx="468600" cy="323100"/>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2100"/>
              <a:buFont typeface="Arial"/>
              <a:buNone/>
            </a:pPr>
            <a:r>
              <a:rPr b="1" i="0" lang="en-US" sz="2100" u="none" cap="none" strike="noStrike">
                <a:solidFill>
                  <a:srgbClr val="363636"/>
                </a:solidFill>
                <a:latin typeface="Oswald"/>
                <a:ea typeface="Oswald"/>
                <a:cs typeface="Oswald"/>
                <a:sym typeface="Oswald"/>
              </a:rPr>
              <a:t>06</a:t>
            </a:r>
            <a:endParaRPr b="0" i="0" sz="700" u="none" cap="none" strike="noStrike">
              <a:solidFill>
                <a:srgbClr val="000000"/>
              </a:solidFill>
              <a:latin typeface="Arial"/>
              <a:ea typeface="Arial"/>
              <a:cs typeface="Arial"/>
              <a:sym typeface="Arial"/>
            </a:endParaRPr>
          </a:p>
        </p:txBody>
      </p:sp>
      <p:sp>
        <p:nvSpPr>
          <p:cNvPr id="114" name="Google Shape;114;p2"/>
          <p:cNvSpPr txBox="1"/>
          <p:nvPr/>
        </p:nvSpPr>
        <p:spPr>
          <a:xfrm>
            <a:off x="2625477" y="4087107"/>
            <a:ext cx="468600" cy="107700"/>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15" name="Google Shape;115;p2"/>
          <p:cNvSpPr txBox="1"/>
          <p:nvPr/>
        </p:nvSpPr>
        <p:spPr>
          <a:xfrm>
            <a:off x="3303715" y="1666569"/>
            <a:ext cx="2895300" cy="200100"/>
          </a:xfrm>
          <a:prstGeom prst="rect">
            <a:avLst/>
          </a:prstGeom>
          <a:noFill/>
          <a:ln>
            <a:noFill/>
          </a:ln>
        </p:spPr>
        <p:txBody>
          <a:bodyPr anchorCtr="0" anchor="t" bIns="0" lIns="0" spcFirstLastPara="1" rIns="0" wrap="square" tIns="0">
            <a:spAutoFit/>
          </a:bodyPr>
          <a:lstStyle/>
          <a:p>
            <a:pPr indent="0" lvl="0" marL="0" marR="0" rtl="0" algn="l">
              <a:lnSpc>
                <a:spcPct val="137995"/>
              </a:lnSpc>
              <a:spcBef>
                <a:spcPts val="0"/>
              </a:spcBef>
              <a:spcAft>
                <a:spcPts val="0"/>
              </a:spcAft>
              <a:buClr>
                <a:srgbClr val="000000"/>
              </a:buClr>
              <a:buSzPts val="1300"/>
              <a:buFont typeface="Arial"/>
              <a:buNone/>
            </a:pPr>
            <a:r>
              <a:rPr lang="en-US" sz="1300">
                <a:latin typeface="DM Sans"/>
                <a:ea typeface="DM Sans"/>
                <a:cs typeface="DM Sans"/>
                <a:sym typeface="DM Sans"/>
              </a:rPr>
              <a:t>OVERVIEW</a:t>
            </a:r>
            <a:endParaRPr b="0" i="0" sz="700" u="none" cap="none" strike="noStrike">
              <a:latin typeface="Arial"/>
              <a:ea typeface="Arial"/>
              <a:cs typeface="Arial"/>
              <a:sym typeface="Arial"/>
            </a:endParaRPr>
          </a:p>
        </p:txBody>
      </p:sp>
      <p:sp>
        <p:nvSpPr>
          <p:cNvPr id="116" name="Google Shape;116;p2"/>
          <p:cNvSpPr txBox="1"/>
          <p:nvPr/>
        </p:nvSpPr>
        <p:spPr>
          <a:xfrm>
            <a:off x="3303715" y="2063678"/>
            <a:ext cx="3038400" cy="200100"/>
          </a:xfrm>
          <a:prstGeom prst="rect">
            <a:avLst/>
          </a:prstGeom>
          <a:noFill/>
          <a:ln>
            <a:noFill/>
          </a:ln>
        </p:spPr>
        <p:txBody>
          <a:bodyPr anchorCtr="0" anchor="t" bIns="0" lIns="0" spcFirstLastPara="1" rIns="0" wrap="square" tIns="0">
            <a:spAutoFit/>
          </a:bodyPr>
          <a:lstStyle/>
          <a:p>
            <a:pPr indent="0" lvl="0" marL="0" rtl="0" algn="l">
              <a:lnSpc>
                <a:spcPct val="137995"/>
              </a:lnSpc>
              <a:spcBef>
                <a:spcPts val="0"/>
              </a:spcBef>
              <a:spcAft>
                <a:spcPts val="0"/>
              </a:spcAft>
              <a:buClr>
                <a:schemeClr val="dk1"/>
              </a:buClr>
              <a:buSzPts val="600"/>
              <a:buFont typeface="Arial"/>
              <a:buNone/>
            </a:pPr>
            <a:r>
              <a:rPr lang="en-US" sz="1300">
                <a:latin typeface="DM Sans"/>
                <a:ea typeface="DM Sans"/>
                <a:cs typeface="DM Sans"/>
                <a:sym typeface="DM Sans"/>
              </a:rPr>
              <a:t>CONTROLLER DESIGN OBJECTIVES</a:t>
            </a:r>
            <a:endParaRPr sz="1300">
              <a:latin typeface="DM Sans"/>
              <a:ea typeface="DM Sans"/>
              <a:cs typeface="DM Sans"/>
              <a:sym typeface="DM Sans"/>
            </a:endParaRPr>
          </a:p>
        </p:txBody>
      </p:sp>
      <p:sp>
        <p:nvSpPr>
          <p:cNvPr id="117" name="Google Shape;117;p2"/>
          <p:cNvSpPr txBox="1"/>
          <p:nvPr/>
        </p:nvSpPr>
        <p:spPr>
          <a:xfrm>
            <a:off x="3303715" y="2523723"/>
            <a:ext cx="2895300" cy="200100"/>
          </a:xfrm>
          <a:prstGeom prst="rect">
            <a:avLst/>
          </a:prstGeom>
          <a:noFill/>
          <a:ln>
            <a:noFill/>
          </a:ln>
        </p:spPr>
        <p:txBody>
          <a:bodyPr anchorCtr="0" anchor="t" bIns="0" lIns="0" spcFirstLastPara="1" rIns="0" wrap="square" tIns="0">
            <a:spAutoFit/>
          </a:bodyPr>
          <a:lstStyle/>
          <a:p>
            <a:pPr indent="0" lvl="0" marL="0" rtl="0" algn="l">
              <a:lnSpc>
                <a:spcPct val="137995"/>
              </a:lnSpc>
              <a:spcBef>
                <a:spcPts val="0"/>
              </a:spcBef>
              <a:spcAft>
                <a:spcPts val="0"/>
              </a:spcAft>
              <a:buClr>
                <a:schemeClr val="dk1"/>
              </a:buClr>
              <a:buSzPts val="600"/>
              <a:buFont typeface="Arial"/>
              <a:buNone/>
            </a:pPr>
            <a:r>
              <a:rPr lang="en-US" sz="1300">
                <a:latin typeface="DM Sans"/>
                <a:ea typeface="DM Sans"/>
                <a:cs typeface="DM Sans"/>
                <a:sym typeface="DM Sans"/>
              </a:rPr>
              <a:t>METHODS</a:t>
            </a:r>
            <a:endParaRPr sz="1300">
              <a:latin typeface="DM Sans"/>
              <a:ea typeface="DM Sans"/>
              <a:cs typeface="DM Sans"/>
              <a:sym typeface="DM Sans"/>
            </a:endParaRPr>
          </a:p>
        </p:txBody>
      </p:sp>
      <p:sp>
        <p:nvSpPr>
          <p:cNvPr id="118" name="Google Shape;118;p2"/>
          <p:cNvSpPr txBox="1"/>
          <p:nvPr/>
        </p:nvSpPr>
        <p:spPr>
          <a:xfrm>
            <a:off x="3303715" y="2920832"/>
            <a:ext cx="3038400" cy="200100"/>
          </a:xfrm>
          <a:prstGeom prst="rect">
            <a:avLst/>
          </a:prstGeom>
          <a:noFill/>
          <a:ln>
            <a:noFill/>
          </a:ln>
        </p:spPr>
        <p:txBody>
          <a:bodyPr anchorCtr="0" anchor="t" bIns="0" lIns="0" spcFirstLastPara="1" rIns="0" wrap="square" tIns="0">
            <a:spAutoFit/>
          </a:bodyPr>
          <a:lstStyle/>
          <a:p>
            <a:pPr indent="0" lvl="0" marL="0" rtl="0" algn="l">
              <a:lnSpc>
                <a:spcPct val="137995"/>
              </a:lnSpc>
              <a:spcBef>
                <a:spcPts val="0"/>
              </a:spcBef>
              <a:spcAft>
                <a:spcPts val="0"/>
              </a:spcAft>
              <a:buClr>
                <a:schemeClr val="dk1"/>
              </a:buClr>
              <a:buSzPts val="600"/>
              <a:buFont typeface="Arial"/>
              <a:buNone/>
            </a:pPr>
            <a:r>
              <a:rPr lang="en-US" sz="1300">
                <a:latin typeface="DM Sans"/>
                <a:ea typeface="DM Sans"/>
                <a:cs typeface="DM Sans"/>
                <a:sym typeface="DM Sans"/>
              </a:rPr>
              <a:t>RESULTS</a:t>
            </a:r>
            <a:endParaRPr sz="1300">
              <a:latin typeface="DM Sans"/>
              <a:ea typeface="DM Sans"/>
              <a:cs typeface="DM Sans"/>
              <a:sym typeface="DM Sans"/>
            </a:endParaRPr>
          </a:p>
        </p:txBody>
      </p:sp>
      <p:sp>
        <p:nvSpPr>
          <p:cNvPr id="119" name="Google Shape;119;p2"/>
          <p:cNvSpPr txBox="1"/>
          <p:nvPr/>
        </p:nvSpPr>
        <p:spPr>
          <a:xfrm>
            <a:off x="3303715" y="3321254"/>
            <a:ext cx="3038400" cy="200100"/>
          </a:xfrm>
          <a:prstGeom prst="rect">
            <a:avLst/>
          </a:prstGeom>
          <a:noFill/>
          <a:ln>
            <a:noFill/>
          </a:ln>
        </p:spPr>
        <p:txBody>
          <a:bodyPr anchorCtr="0" anchor="t" bIns="0" lIns="0" spcFirstLastPara="1" rIns="0" wrap="square" tIns="0">
            <a:spAutoFit/>
          </a:bodyPr>
          <a:lstStyle/>
          <a:p>
            <a:pPr indent="0" lvl="0" marL="0" rtl="0" algn="l">
              <a:lnSpc>
                <a:spcPct val="137995"/>
              </a:lnSpc>
              <a:spcBef>
                <a:spcPts val="0"/>
              </a:spcBef>
              <a:spcAft>
                <a:spcPts val="0"/>
              </a:spcAft>
              <a:buClr>
                <a:schemeClr val="dk1"/>
              </a:buClr>
              <a:buSzPts val="600"/>
              <a:buFont typeface="Arial"/>
              <a:buNone/>
            </a:pPr>
            <a:r>
              <a:rPr lang="en-US" sz="1300">
                <a:latin typeface="DM Sans"/>
                <a:ea typeface="DM Sans"/>
                <a:cs typeface="DM Sans"/>
                <a:sym typeface="DM Sans"/>
              </a:rPr>
              <a:t>DISCUSSION</a:t>
            </a:r>
            <a:endParaRPr sz="1300">
              <a:latin typeface="DM Sans"/>
              <a:ea typeface="DM Sans"/>
              <a:cs typeface="DM Sans"/>
              <a:sym typeface="DM Sans"/>
            </a:endParaRPr>
          </a:p>
        </p:txBody>
      </p:sp>
      <p:sp>
        <p:nvSpPr>
          <p:cNvPr id="120" name="Google Shape;120;p2"/>
          <p:cNvSpPr txBox="1"/>
          <p:nvPr/>
        </p:nvSpPr>
        <p:spPr>
          <a:xfrm>
            <a:off x="3303715" y="3717442"/>
            <a:ext cx="2895300" cy="200100"/>
          </a:xfrm>
          <a:prstGeom prst="rect">
            <a:avLst/>
          </a:prstGeom>
          <a:noFill/>
          <a:ln>
            <a:noFill/>
          </a:ln>
        </p:spPr>
        <p:txBody>
          <a:bodyPr anchorCtr="0" anchor="t" bIns="0" lIns="0" spcFirstLastPara="1" rIns="0" wrap="square" tIns="0">
            <a:spAutoFit/>
          </a:bodyPr>
          <a:lstStyle/>
          <a:p>
            <a:pPr indent="0" lvl="0" marL="0" rtl="0" algn="l">
              <a:lnSpc>
                <a:spcPct val="137995"/>
              </a:lnSpc>
              <a:spcBef>
                <a:spcPts val="0"/>
              </a:spcBef>
              <a:spcAft>
                <a:spcPts val="0"/>
              </a:spcAft>
              <a:buClr>
                <a:schemeClr val="dk1"/>
              </a:buClr>
              <a:buSzPts val="600"/>
              <a:buFont typeface="Arial"/>
              <a:buNone/>
            </a:pPr>
            <a:r>
              <a:rPr lang="en-US" sz="1300">
                <a:latin typeface="DM Sans"/>
                <a:ea typeface="DM Sans"/>
                <a:cs typeface="DM Sans"/>
                <a:sym typeface="DM Sans"/>
              </a:rPr>
              <a:t>FUTURE DIRECTIONS</a:t>
            </a:r>
            <a:endParaRPr sz="1300">
              <a:latin typeface="DM Sans"/>
              <a:ea typeface="DM Sans"/>
              <a:cs typeface="DM Sans"/>
              <a:sym typeface="DM Sans"/>
            </a:endParaRPr>
          </a:p>
        </p:txBody>
      </p:sp>
      <p:sp>
        <p:nvSpPr>
          <p:cNvPr id="121" name="Google Shape;121;p2"/>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1</a:t>
            </a:r>
            <a:endParaRPr sz="800">
              <a:latin typeface="EB Garamond"/>
              <a:ea typeface="EB Garamond"/>
              <a:cs typeface="EB Garamond"/>
              <a:sym typeface="EB Garamo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grpSp>
        <p:nvGrpSpPr>
          <p:cNvPr id="126" name="Google Shape;126;g2e5349b7fe2_0_0"/>
          <p:cNvGrpSpPr/>
          <p:nvPr/>
        </p:nvGrpSpPr>
        <p:grpSpPr>
          <a:xfrm>
            <a:off x="0" y="-36164"/>
            <a:ext cx="9144300" cy="1278131"/>
            <a:chOff x="0" y="-19050"/>
            <a:chExt cx="4816592" cy="831900"/>
          </a:xfrm>
        </p:grpSpPr>
        <p:sp>
          <p:nvSpPr>
            <p:cNvPr id="127" name="Google Shape;127;g2e5349b7fe2_0_0"/>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128" name="Google Shape;128;g2e5349b7fe2_0_0"/>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29" name="Google Shape;129;g2e5349b7fe2_0_0"/>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130" name="Google Shape;130;g2e5349b7fe2_0_0"/>
          <p:cNvSpPr txBox="1"/>
          <p:nvPr/>
        </p:nvSpPr>
        <p:spPr>
          <a:xfrm>
            <a:off x="1845525" y="141450"/>
            <a:ext cx="5453100" cy="5541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600"/>
              <a:buFont typeface="Arial"/>
              <a:buNone/>
            </a:pPr>
            <a:r>
              <a:rPr b="1" lang="en-US" sz="3600">
                <a:solidFill>
                  <a:srgbClr val="FFFFFF"/>
                </a:solidFill>
                <a:latin typeface="Oswald"/>
                <a:ea typeface="Oswald"/>
                <a:cs typeface="Oswald"/>
                <a:sym typeface="Oswald"/>
              </a:rPr>
              <a:t>OVERVIEW</a:t>
            </a:r>
            <a:endParaRPr b="0" i="0" sz="300" u="none" cap="none" strike="noStrike">
              <a:solidFill>
                <a:srgbClr val="000000"/>
              </a:solidFill>
              <a:latin typeface="Arial"/>
              <a:ea typeface="Arial"/>
              <a:cs typeface="Arial"/>
              <a:sym typeface="Arial"/>
            </a:endParaRPr>
          </a:p>
        </p:txBody>
      </p:sp>
      <p:sp>
        <p:nvSpPr>
          <p:cNvPr id="131" name="Google Shape;131;g2e5349b7fe2_0_0"/>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132" name="Google Shape;132;g2e5349b7fe2_0_0"/>
          <p:cNvSpPr txBox="1"/>
          <p:nvPr/>
        </p:nvSpPr>
        <p:spPr>
          <a:xfrm>
            <a:off x="1845525" y="636337"/>
            <a:ext cx="5453100" cy="4926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200"/>
              <a:buFont typeface="Arial"/>
              <a:buNone/>
            </a:pPr>
            <a:r>
              <a:rPr lang="en-US" sz="3200">
                <a:solidFill>
                  <a:srgbClr val="FFFFFF"/>
                </a:solidFill>
                <a:latin typeface="Oswald"/>
                <a:ea typeface="Oswald"/>
                <a:cs typeface="Oswald"/>
                <a:sym typeface="Oswald"/>
              </a:rPr>
              <a:t>Motivation</a:t>
            </a:r>
            <a:endParaRPr b="0" i="0" sz="3100" u="none" cap="none" strike="noStrike">
              <a:solidFill>
                <a:srgbClr val="000000"/>
              </a:solidFill>
              <a:latin typeface="Arial"/>
              <a:ea typeface="Arial"/>
              <a:cs typeface="Arial"/>
              <a:sym typeface="Arial"/>
            </a:endParaRPr>
          </a:p>
        </p:txBody>
      </p:sp>
      <p:sp>
        <p:nvSpPr>
          <p:cNvPr id="133" name="Google Shape;133;g2e5349b7fe2_0_0"/>
          <p:cNvSpPr txBox="1"/>
          <p:nvPr/>
        </p:nvSpPr>
        <p:spPr>
          <a:xfrm>
            <a:off x="342288" y="1357475"/>
            <a:ext cx="8394000" cy="34941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sz="1700">
              <a:latin typeface="DM Sans"/>
              <a:ea typeface="DM Sans"/>
              <a:cs typeface="DM Sans"/>
              <a:sym typeface="DM Sans"/>
            </a:endParaRPr>
          </a:p>
          <a:p>
            <a:pPr indent="0" lvl="0" marL="0" rtl="0" algn="l">
              <a:spcBef>
                <a:spcPts val="0"/>
              </a:spcBef>
              <a:spcAft>
                <a:spcPts val="0"/>
              </a:spcAft>
              <a:buNone/>
            </a:pPr>
            <a:r>
              <a:t/>
            </a:r>
            <a:endParaRPr sz="1700">
              <a:latin typeface="DM Sans"/>
              <a:ea typeface="DM Sans"/>
              <a:cs typeface="DM Sans"/>
              <a:sym typeface="DM Sans"/>
            </a:endParaRPr>
          </a:p>
          <a:p>
            <a:pPr indent="-222250" lvl="0" marL="228600" rtl="0" algn="l">
              <a:spcBef>
                <a:spcPts val="0"/>
              </a:spcBef>
              <a:spcAft>
                <a:spcPts val="0"/>
              </a:spcAft>
              <a:buClr>
                <a:srgbClr val="000000"/>
              </a:buClr>
              <a:buSzPts val="1700"/>
              <a:buFont typeface="DM Sans"/>
              <a:buChar char="●"/>
            </a:pPr>
            <a:r>
              <a:rPr lang="en-US" sz="1700">
                <a:latin typeface="DM Sans"/>
                <a:ea typeface="DM Sans"/>
                <a:cs typeface="DM Sans"/>
                <a:sym typeface="DM Sans"/>
              </a:rPr>
              <a:t>Composites have many applications in aerospace</a:t>
            </a:r>
            <a:endParaRPr sz="1700">
              <a:latin typeface="DM Sans"/>
              <a:ea typeface="DM Sans"/>
              <a:cs typeface="DM Sans"/>
              <a:sym typeface="DM Sans"/>
            </a:endParaRPr>
          </a:p>
          <a:p>
            <a:pPr indent="-222250" lvl="1" marL="457200" rtl="0" algn="l">
              <a:spcBef>
                <a:spcPts val="0"/>
              </a:spcBef>
              <a:spcAft>
                <a:spcPts val="0"/>
              </a:spcAft>
              <a:buClr>
                <a:srgbClr val="000000"/>
              </a:buClr>
              <a:buSzPts val="1700"/>
              <a:buFont typeface="DM Sans"/>
              <a:buChar char="○"/>
            </a:pPr>
            <a:r>
              <a:rPr lang="en-US" sz="1700">
                <a:latin typeface="DM Sans"/>
                <a:ea typeface="DM Sans"/>
                <a:cs typeface="DM Sans"/>
                <a:sym typeface="DM Sans"/>
              </a:rPr>
              <a:t>Composite manufacturing historically performed manually</a:t>
            </a:r>
            <a:endParaRPr sz="1700">
              <a:latin typeface="DM Sans"/>
              <a:ea typeface="DM Sans"/>
              <a:cs typeface="DM Sans"/>
              <a:sym typeface="DM Sans"/>
            </a:endParaRPr>
          </a:p>
          <a:p>
            <a:pPr indent="-222250" lvl="0" marL="228600" rtl="0" algn="l">
              <a:spcBef>
                <a:spcPts val="0"/>
              </a:spcBef>
              <a:spcAft>
                <a:spcPts val="0"/>
              </a:spcAft>
              <a:buClr>
                <a:srgbClr val="000000"/>
              </a:buClr>
              <a:buSzPts val="1700"/>
              <a:buFont typeface="DM Sans"/>
              <a:buChar char="●"/>
            </a:pPr>
            <a:r>
              <a:rPr lang="en-US" sz="1700">
                <a:latin typeface="DM Sans"/>
                <a:ea typeface="DM Sans"/>
                <a:cs typeface="DM Sans"/>
                <a:sym typeface="DM Sans"/>
              </a:rPr>
              <a:t>Automation is desirable over having human operators </a:t>
            </a:r>
            <a:endParaRPr sz="1700">
              <a:latin typeface="DM Sans"/>
              <a:ea typeface="DM Sans"/>
              <a:cs typeface="DM Sans"/>
              <a:sym typeface="DM Sans"/>
            </a:endParaRPr>
          </a:p>
          <a:p>
            <a:pPr indent="-222250" lvl="1" marL="457200" rtl="0" algn="l">
              <a:spcBef>
                <a:spcPts val="0"/>
              </a:spcBef>
              <a:spcAft>
                <a:spcPts val="0"/>
              </a:spcAft>
              <a:buClr>
                <a:srgbClr val="000000"/>
              </a:buClr>
              <a:buSzPts val="1700"/>
              <a:buFont typeface="DM Sans"/>
              <a:buChar char="○"/>
            </a:pPr>
            <a:r>
              <a:rPr lang="en-US" sz="1700">
                <a:latin typeface="DM Sans"/>
                <a:ea typeface="DM Sans"/>
                <a:cs typeface="DM Sans"/>
                <a:sym typeface="DM Sans"/>
              </a:rPr>
              <a:t>Avoid defects due to human error</a:t>
            </a:r>
            <a:endParaRPr sz="1700">
              <a:latin typeface="DM Sans"/>
              <a:ea typeface="DM Sans"/>
              <a:cs typeface="DM Sans"/>
              <a:sym typeface="DM Sans"/>
            </a:endParaRPr>
          </a:p>
          <a:p>
            <a:pPr indent="-222250" lvl="1" marL="457200" rtl="0" algn="l">
              <a:spcBef>
                <a:spcPts val="0"/>
              </a:spcBef>
              <a:spcAft>
                <a:spcPts val="0"/>
              </a:spcAft>
              <a:buClr>
                <a:srgbClr val="000000"/>
              </a:buClr>
              <a:buSzPts val="1700"/>
              <a:buFont typeface="DM Sans"/>
              <a:buChar char="○"/>
            </a:pPr>
            <a:r>
              <a:rPr lang="en-US" sz="1700">
                <a:latin typeface="DM Sans"/>
                <a:ea typeface="DM Sans"/>
                <a:cs typeface="DM Sans"/>
                <a:sym typeface="DM Sans"/>
              </a:rPr>
              <a:t>Increased manufacturing efficiency</a:t>
            </a:r>
            <a:endParaRPr sz="1700">
              <a:latin typeface="DM Sans"/>
              <a:ea typeface="DM Sans"/>
              <a:cs typeface="DM Sans"/>
              <a:sym typeface="DM Sans"/>
            </a:endParaRPr>
          </a:p>
          <a:p>
            <a:pPr indent="-222250" lvl="1" marL="457200" rtl="0" algn="l">
              <a:spcBef>
                <a:spcPts val="0"/>
              </a:spcBef>
              <a:spcAft>
                <a:spcPts val="0"/>
              </a:spcAft>
              <a:buClr>
                <a:srgbClr val="000000"/>
              </a:buClr>
              <a:buSzPts val="1700"/>
              <a:buFont typeface="DM Sans"/>
              <a:buChar char="○"/>
            </a:pPr>
            <a:r>
              <a:rPr lang="en-US" sz="1700">
                <a:latin typeface="DM Sans"/>
                <a:ea typeface="DM Sans"/>
                <a:cs typeface="DM Sans"/>
                <a:sym typeface="DM Sans"/>
              </a:rPr>
              <a:t>Reduction of labor costs</a:t>
            </a:r>
            <a:endParaRPr sz="1700">
              <a:latin typeface="DM Sans"/>
              <a:ea typeface="DM Sans"/>
              <a:cs typeface="DM Sans"/>
              <a:sym typeface="DM Sans"/>
            </a:endParaRPr>
          </a:p>
          <a:p>
            <a:pPr indent="-222250" lvl="0" marL="228600" rtl="0" algn="l">
              <a:spcBef>
                <a:spcPts val="0"/>
              </a:spcBef>
              <a:spcAft>
                <a:spcPts val="0"/>
              </a:spcAft>
              <a:buClr>
                <a:srgbClr val="000000"/>
              </a:buClr>
              <a:buSzPts val="1700"/>
              <a:buFont typeface="DM Sans"/>
              <a:buChar char="●"/>
            </a:pPr>
            <a:r>
              <a:rPr lang="en-US" sz="1700">
                <a:latin typeface="DM Sans"/>
                <a:ea typeface="DM Sans"/>
                <a:cs typeface="DM Sans"/>
                <a:sym typeface="DM Sans"/>
              </a:rPr>
              <a:t>Automated Fiber Placement (AFP) is one method for automating composite manufacturing</a:t>
            </a:r>
            <a:endParaRPr sz="1700">
              <a:latin typeface="DM Sans"/>
              <a:ea typeface="DM Sans"/>
              <a:cs typeface="DM Sans"/>
              <a:sym typeface="DM Sans"/>
            </a:endParaRPr>
          </a:p>
          <a:p>
            <a:pPr indent="-222250" lvl="1" marL="457200" rtl="0" algn="l">
              <a:spcBef>
                <a:spcPts val="0"/>
              </a:spcBef>
              <a:spcAft>
                <a:spcPts val="0"/>
              </a:spcAft>
              <a:buClr>
                <a:srgbClr val="000000"/>
              </a:buClr>
              <a:buSzPts val="1700"/>
              <a:buFont typeface="DM Sans"/>
              <a:buChar char="○"/>
            </a:pPr>
            <a:r>
              <a:rPr lang="en-US" sz="1700">
                <a:latin typeface="DM Sans"/>
                <a:ea typeface="DM Sans"/>
                <a:cs typeface="DM Sans"/>
                <a:sym typeface="DM Sans"/>
              </a:rPr>
              <a:t>Fiber placement and orientation accuracy needs to be high based off the application</a:t>
            </a:r>
            <a:endParaRPr sz="1700">
              <a:latin typeface="DM Sans"/>
              <a:ea typeface="DM Sans"/>
              <a:cs typeface="DM Sans"/>
              <a:sym typeface="DM Sans"/>
            </a:endParaRPr>
          </a:p>
          <a:p>
            <a:pPr indent="-222250" lvl="1" marL="457200" rtl="0" algn="l">
              <a:spcBef>
                <a:spcPts val="0"/>
              </a:spcBef>
              <a:spcAft>
                <a:spcPts val="0"/>
              </a:spcAft>
              <a:buClr>
                <a:srgbClr val="000000"/>
              </a:buClr>
              <a:buSzPts val="1700"/>
              <a:buFont typeface="DM Sans"/>
              <a:buChar char="○"/>
            </a:pPr>
            <a:r>
              <a:rPr lang="en-US" sz="1700">
                <a:latin typeface="DM Sans"/>
                <a:ea typeface="DM Sans"/>
                <a:cs typeface="DM Sans"/>
                <a:sym typeface="DM Sans"/>
              </a:rPr>
              <a:t>AFP does currently exist but is limited to simpler trajectories</a:t>
            </a:r>
            <a:endParaRPr sz="1700">
              <a:latin typeface="DM Sans"/>
              <a:ea typeface="DM Sans"/>
              <a:cs typeface="DM Sans"/>
              <a:sym typeface="DM Sans"/>
            </a:endParaRPr>
          </a:p>
        </p:txBody>
      </p:sp>
      <p:sp>
        <p:nvSpPr>
          <p:cNvPr id="134" name="Google Shape;134;g2e5349b7fe2_0_0"/>
          <p:cNvSpPr txBox="1"/>
          <p:nvPr/>
        </p:nvSpPr>
        <p:spPr>
          <a:xfrm>
            <a:off x="6922501" y="2910900"/>
            <a:ext cx="1926300" cy="3387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b="1" lang="en-US" sz="800">
                <a:latin typeface="EB Garamond"/>
                <a:ea typeface="EB Garamond"/>
                <a:cs typeface="EB Garamond"/>
                <a:sym typeface="EB Garamond"/>
              </a:rPr>
              <a:t>Fig 1: Human operators working on a layup for a wind turbine blade</a:t>
            </a:r>
            <a:endParaRPr b="1" sz="800">
              <a:latin typeface="EB Garamond"/>
              <a:ea typeface="EB Garamond"/>
              <a:cs typeface="EB Garamond"/>
              <a:sym typeface="EB Garamond"/>
            </a:endParaRPr>
          </a:p>
        </p:txBody>
      </p:sp>
      <p:pic>
        <p:nvPicPr>
          <p:cNvPr id="135" name="Google Shape;135;g2e5349b7fe2_0_0"/>
          <p:cNvPicPr preferRelativeResize="0"/>
          <p:nvPr/>
        </p:nvPicPr>
        <p:blipFill>
          <a:blip r:embed="rId4">
            <a:alphaModFix/>
          </a:blip>
          <a:stretch>
            <a:fillRect/>
          </a:stretch>
        </p:blipFill>
        <p:spPr>
          <a:xfrm>
            <a:off x="6922502" y="1590450"/>
            <a:ext cx="1926306" cy="1278149"/>
          </a:xfrm>
          <a:prstGeom prst="rect">
            <a:avLst/>
          </a:prstGeom>
          <a:noFill/>
          <a:ln>
            <a:noFill/>
          </a:ln>
        </p:spPr>
      </p:pic>
      <p:sp>
        <p:nvSpPr>
          <p:cNvPr id="136" name="Google Shape;136;g2e5349b7fe2_0_0"/>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2</a:t>
            </a:r>
            <a:endParaRPr sz="800">
              <a:latin typeface="EB Garamond"/>
              <a:ea typeface="EB Garamond"/>
              <a:cs typeface="EB Garamond"/>
              <a:sym typeface="EB Garamo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grpSp>
        <p:nvGrpSpPr>
          <p:cNvPr id="141" name="Google Shape;141;g2e5349b7fe2_0_20"/>
          <p:cNvGrpSpPr/>
          <p:nvPr/>
        </p:nvGrpSpPr>
        <p:grpSpPr>
          <a:xfrm>
            <a:off x="0" y="-36164"/>
            <a:ext cx="9144300" cy="1278131"/>
            <a:chOff x="0" y="-19050"/>
            <a:chExt cx="4816592" cy="831900"/>
          </a:xfrm>
        </p:grpSpPr>
        <p:sp>
          <p:nvSpPr>
            <p:cNvPr id="142" name="Google Shape;142;g2e5349b7fe2_0_20"/>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143" name="Google Shape;143;g2e5349b7fe2_0_20"/>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44" name="Google Shape;144;g2e5349b7fe2_0_20"/>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145" name="Google Shape;145;g2e5349b7fe2_0_20"/>
          <p:cNvSpPr txBox="1"/>
          <p:nvPr/>
        </p:nvSpPr>
        <p:spPr>
          <a:xfrm>
            <a:off x="1845525" y="141450"/>
            <a:ext cx="5453100" cy="5541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600"/>
              <a:buFont typeface="Arial"/>
              <a:buNone/>
            </a:pPr>
            <a:r>
              <a:rPr b="1" lang="en-US" sz="3600">
                <a:solidFill>
                  <a:srgbClr val="FFFFFF"/>
                </a:solidFill>
                <a:latin typeface="Oswald"/>
                <a:ea typeface="Oswald"/>
                <a:cs typeface="Oswald"/>
                <a:sym typeface="Oswald"/>
              </a:rPr>
              <a:t>OVERVIEW</a:t>
            </a:r>
            <a:endParaRPr b="0" i="0" sz="300" u="none" cap="none" strike="noStrike">
              <a:solidFill>
                <a:srgbClr val="000000"/>
              </a:solidFill>
              <a:latin typeface="Arial"/>
              <a:ea typeface="Arial"/>
              <a:cs typeface="Arial"/>
              <a:sym typeface="Arial"/>
            </a:endParaRPr>
          </a:p>
        </p:txBody>
      </p:sp>
      <p:sp>
        <p:nvSpPr>
          <p:cNvPr id="146" name="Google Shape;146;g2e5349b7fe2_0_20"/>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147" name="Google Shape;147;g2e5349b7fe2_0_20"/>
          <p:cNvSpPr txBox="1"/>
          <p:nvPr/>
        </p:nvSpPr>
        <p:spPr>
          <a:xfrm>
            <a:off x="1845525" y="636337"/>
            <a:ext cx="5453100" cy="4926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200"/>
              <a:buFont typeface="Arial"/>
              <a:buNone/>
            </a:pPr>
            <a:r>
              <a:rPr lang="en-US" sz="3200">
                <a:solidFill>
                  <a:srgbClr val="FFFFFF"/>
                </a:solidFill>
                <a:latin typeface="Oswald"/>
                <a:ea typeface="Oswald"/>
                <a:cs typeface="Oswald"/>
                <a:sym typeface="Oswald"/>
              </a:rPr>
              <a:t>Literature Review</a:t>
            </a:r>
            <a:endParaRPr b="0" i="0" sz="3100" u="none" cap="none" strike="noStrike">
              <a:solidFill>
                <a:srgbClr val="000000"/>
              </a:solidFill>
              <a:latin typeface="Arial"/>
              <a:ea typeface="Arial"/>
              <a:cs typeface="Arial"/>
              <a:sym typeface="Arial"/>
            </a:endParaRPr>
          </a:p>
        </p:txBody>
      </p:sp>
      <p:sp>
        <p:nvSpPr>
          <p:cNvPr id="148" name="Google Shape;148;g2e5349b7fe2_0_20"/>
          <p:cNvSpPr txBox="1"/>
          <p:nvPr/>
        </p:nvSpPr>
        <p:spPr>
          <a:xfrm>
            <a:off x="350150" y="1267075"/>
            <a:ext cx="5403600" cy="30222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Clr>
                <a:schemeClr val="dk1"/>
              </a:buClr>
              <a:buSzPts val="1100"/>
              <a:buFont typeface="Arial"/>
              <a:buNone/>
            </a:pPr>
            <a:r>
              <a:rPr b="1" lang="en-US">
                <a:latin typeface="DM Sans"/>
                <a:ea typeface="DM Sans"/>
                <a:cs typeface="DM Sans"/>
                <a:sym typeface="DM Sans"/>
              </a:rPr>
              <a:t>Hybrid Cells for Multi-Layer Prepreg Composite Sheet Layup [1]</a:t>
            </a:r>
            <a:endParaRPr>
              <a:latin typeface="DM Sans"/>
              <a:ea typeface="DM Sans"/>
              <a:cs typeface="DM Sans"/>
              <a:sym typeface="DM Sans"/>
            </a:endParaRPr>
          </a:p>
          <a:p>
            <a:pPr indent="457200" lvl="0" marL="0" rtl="0" algn="l">
              <a:spcBef>
                <a:spcPts val="0"/>
              </a:spcBef>
              <a:spcAft>
                <a:spcPts val="0"/>
              </a:spcAft>
              <a:buNone/>
            </a:pPr>
            <a:r>
              <a:rPr lang="en-US">
                <a:latin typeface="DM Sans"/>
                <a:ea typeface="DM Sans"/>
                <a:cs typeface="DM Sans"/>
                <a:sym typeface="DM Sans"/>
              </a:rPr>
              <a:t>The USC ARM institute developed a robot cell comprised of three KUKA iiwa 7 arms. These arms implemented impedance and force control. A custom roller end effector was used to fit the ply over the mold and flush out any air bubbles.  The robots arms are seen doing multiple tasks draping, grasping the prepreg and rolling to the the mold. </a:t>
            </a:r>
            <a:endParaRPr>
              <a:latin typeface="DM Sans"/>
              <a:ea typeface="DM Sans"/>
              <a:cs typeface="DM Sans"/>
              <a:sym typeface="DM Sans"/>
            </a:endParaRPr>
          </a:p>
          <a:p>
            <a:pPr indent="457200" lvl="0" marL="0" rtl="0" algn="l">
              <a:spcBef>
                <a:spcPts val="1000"/>
              </a:spcBef>
              <a:spcAft>
                <a:spcPts val="0"/>
              </a:spcAft>
              <a:buClr>
                <a:schemeClr val="dk1"/>
              </a:buClr>
              <a:buSzPts val="1100"/>
              <a:buFont typeface="Arial"/>
              <a:buNone/>
            </a:pPr>
            <a:r>
              <a:rPr lang="en-US">
                <a:latin typeface="DM Sans"/>
                <a:ea typeface="DM Sans"/>
                <a:cs typeface="DM Sans"/>
                <a:sym typeface="DM Sans"/>
              </a:rPr>
              <a:t>Our team will mainly focus on the rolling motion and developing a controller that can traverse various types of geometry using one robotic arm. Another difference is that our project will involve the laying of individual fiber tows as opposed to full sheets. </a:t>
            </a:r>
            <a:endParaRPr>
              <a:latin typeface="DM Sans"/>
              <a:ea typeface="DM Sans"/>
              <a:cs typeface="DM Sans"/>
              <a:sym typeface="DM Sans"/>
            </a:endParaRPr>
          </a:p>
        </p:txBody>
      </p:sp>
      <p:pic>
        <p:nvPicPr>
          <p:cNvPr id="149" name="Google Shape;149;g2e5349b7fe2_0_20"/>
          <p:cNvPicPr preferRelativeResize="0"/>
          <p:nvPr/>
        </p:nvPicPr>
        <p:blipFill>
          <a:blip r:embed="rId4">
            <a:alphaModFix/>
          </a:blip>
          <a:stretch>
            <a:fillRect/>
          </a:stretch>
        </p:blipFill>
        <p:spPr>
          <a:xfrm>
            <a:off x="6384513" y="1282123"/>
            <a:ext cx="1906602" cy="1276578"/>
          </a:xfrm>
          <a:prstGeom prst="rect">
            <a:avLst/>
          </a:prstGeom>
          <a:noFill/>
          <a:ln>
            <a:noFill/>
          </a:ln>
        </p:spPr>
      </p:pic>
      <p:sp>
        <p:nvSpPr>
          <p:cNvPr id="150" name="Google Shape;150;g2e5349b7fe2_0_20"/>
          <p:cNvSpPr txBox="1"/>
          <p:nvPr/>
        </p:nvSpPr>
        <p:spPr>
          <a:xfrm>
            <a:off x="6220775" y="2558700"/>
            <a:ext cx="223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800">
                <a:latin typeface="EB Garamond"/>
                <a:ea typeface="EB Garamond"/>
                <a:cs typeface="EB Garamond"/>
                <a:sym typeface="EB Garamond"/>
              </a:rPr>
              <a:t>Fig 3: Three-arm robot cell for prepreg sheet layup from the ARM institute of USC [2]</a:t>
            </a:r>
            <a:endParaRPr b="1" sz="800">
              <a:latin typeface="EB Garamond"/>
              <a:ea typeface="EB Garamond"/>
              <a:cs typeface="EB Garamond"/>
              <a:sym typeface="EB Garamond"/>
            </a:endParaRPr>
          </a:p>
        </p:txBody>
      </p:sp>
      <p:pic>
        <p:nvPicPr>
          <p:cNvPr id="151" name="Google Shape;151;g2e5349b7fe2_0_20"/>
          <p:cNvPicPr preferRelativeResize="0"/>
          <p:nvPr/>
        </p:nvPicPr>
        <p:blipFill rotWithShape="1">
          <a:blip r:embed="rId5">
            <a:alphaModFix/>
          </a:blip>
          <a:srcRect b="0" l="0" r="0" t="0"/>
          <a:stretch/>
        </p:blipFill>
        <p:spPr>
          <a:xfrm>
            <a:off x="5753727" y="2942723"/>
            <a:ext cx="3187675" cy="1796160"/>
          </a:xfrm>
          <a:prstGeom prst="rect">
            <a:avLst/>
          </a:prstGeom>
          <a:noFill/>
          <a:ln>
            <a:noFill/>
          </a:ln>
        </p:spPr>
      </p:pic>
      <p:sp>
        <p:nvSpPr>
          <p:cNvPr id="152" name="Google Shape;152;g2e5349b7fe2_0_20"/>
          <p:cNvSpPr txBox="1"/>
          <p:nvPr/>
        </p:nvSpPr>
        <p:spPr>
          <a:xfrm>
            <a:off x="5743925" y="4733300"/>
            <a:ext cx="3187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800">
                <a:latin typeface="EB Garamond"/>
                <a:ea typeface="EB Garamond"/>
                <a:cs typeface="EB Garamond"/>
                <a:sym typeface="EB Garamond"/>
              </a:rPr>
              <a:t>Fig 4: Coordination of robot cell to set prepreg layers</a:t>
            </a:r>
            <a:endParaRPr b="1" sz="800">
              <a:latin typeface="EB Garamond"/>
              <a:ea typeface="EB Garamond"/>
              <a:cs typeface="EB Garamond"/>
              <a:sym typeface="EB Garamond"/>
            </a:endParaRPr>
          </a:p>
        </p:txBody>
      </p:sp>
      <p:sp>
        <p:nvSpPr>
          <p:cNvPr id="153" name="Google Shape;153;g2e5349b7fe2_0_20"/>
          <p:cNvSpPr txBox="1"/>
          <p:nvPr/>
        </p:nvSpPr>
        <p:spPr>
          <a:xfrm>
            <a:off x="204175" y="4207375"/>
            <a:ext cx="5549700" cy="903900"/>
          </a:xfrm>
          <a:prstGeom prst="rect">
            <a:avLst/>
          </a:prstGeom>
          <a:noFill/>
          <a:ln>
            <a:noFill/>
          </a:ln>
        </p:spPr>
        <p:txBody>
          <a:bodyPr anchorCtr="0" anchor="t" bIns="91425" lIns="91425" spcFirstLastPara="1" rIns="91425" wrap="square" tIns="91425">
            <a:spAutoFit/>
          </a:bodyPr>
          <a:lstStyle/>
          <a:p>
            <a:pPr indent="-279400" lvl="0" marL="457200" rtl="0" algn="l">
              <a:lnSpc>
                <a:spcPct val="80000"/>
              </a:lnSpc>
              <a:spcBef>
                <a:spcPts val="0"/>
              </a:spcBef>
              <a:spcAft>
                <a:spcPts val="0"/>
              </a:spcAft>
              <a:buClr>
                <a:srgbClr val="000000"/>
              </a:buClr>
              <a:buSzPts val="800"/>
              <a:buFont typeface="EB Garamond"/>
              <a:buAutoNum type="arabicPeriod"/>
            </a:pPr>
            <a:r>
              <a:rPr lang="en-US" sz="800">
                <a:latin typeface="EB Garamond"/>
                <a:ea typeface="EB Garamond"/>
                <a:cs typeface="EB Garamond"/>
                <a:sym typeface="EB Garamond"/>
              </a:rPr>
              <a:t>Roudy Wehbe, Brian Tatting, Sreehari Rajan, Ramy Harik, Michael Sutton, Zafer Gürdal,Geometrical modeling of tow wrinkles in automated fiber placement,Composite Structures,Volume 246,2020,112394,ISSN 0263-8223, </a:t>
            </a:r>
            <a:r>
              <a:rPr lang="en-US" sz="800" u="sng">
                <a:solidFill>
                  <a:schemeClr val="hlink"/>
                </a:solidFill>
                <a:latin typeface="EB Garamond"/>
                <a:ea typeface="EB Garamond"/>
                <a:cs typeface="EB Garamond"/>
                <a:sym typeface="EB Garamond"/>
                <a:hlinkClick r:id="rId6"/>
              </a:rPr>
              <a:t>https://doi.org/10.1016/j.compstruct.2020.112394</a:t>
            </a:r>
            <a:r>
              <a:rPr lang="en-US" sz="800">
                <a:latin typeface="EB Garamond"/>
                <a:ea typeface="EB Garamond"/>
                <a:cs typeface="EB Garamond"/>
                <a:sym typeface="EB Garamond"/>
              </a:rPr>
              <a:t>.</a:t>
            </a:r>
            <a:endParaRPr sz="800">
              <a:latin typeface="EB Garamond"/>
              <a:ea typeface="EB Garamond"/>
              <a:cs typeface="EB Garamond"/>
              <a:sym typeface="EB Garamond"/>
            </a:endParaRPr>
          </a:p>
          <a:p>
            <a:pPr indent="-279400" lvl="0" marL="457200" rtl="0" algn="l">
              <a:lnSpc>
                <a:spcPct val="80000"/>
              </a:lnSpc>
              <a:spcBef>
                <a:spcPts val="1000"/>
              </a:spcBef>
              <a:spcAft>
                <a:spcPts val="0"/>
              </a:spcAft>
              <a:buClr>
                <a:srgbClr val="000000"/>
              </a:buClr>
              <a:buSzPts val="800"/>
              <a:buFont typeface="EB Garamond"/>
              <a:buAutoNum type="arabicPeriod"/>
            </a:pPr>
            <a:r>
              <a:rPr lang="en-US" sz="800">
                <a:latin typeface="EB Garamond"/>
                <a:ea typeface="EB Garamond"/>
                <a:cs typeface="EB Garamond"/>
                <a:sym typeface="EB Garamond"/>
              </a:rPr>
              <a:t>Rishi K. Malhan, Aniruddha V. Shembekar, Ariyan M. Kabir, Prahar M. Bhatt, Brual Shah, Scott Zanio, Steven Nutt, Satyandra K. Gupta, Automated planning for robotic layup of composite prepreg, Robotics and Computer-Integrated </a:t>
            </a:r>
            <a:r>
              <a:rPr lang="en-US" sz="800" u="sng">
                <a:solidFill>
                  <a:schemeClr val="hlink"/>
                </a:solidFill>
                <a:latin typeface="EB Garamond"/>
                <a:ea typeface="EB Garamond"/>
                <a:cs typeface="EB Garamond"/>
                <a:sym typeface="EB Garamond"/>
                <a:hlinkClick r:id="rId7"/>
              </a:rPr>
              <a:t>Manufacturing, Volume 67, 2021, 102020, ISSN 0736-5845, https://doi.org/10.1016/j.rcim.2020.102020</a:t>
            </a:r>
            <a:r>
              <a:rPr lang="en-US" sz="800">
                <a:latin typeface="EB Garamond"/>
                <a:ea typeface="EB Garamond"/>
                <a:cs typeface="EB Garamond"/>
                <a:sym typeface="EB Garamond"/>
              </a:rPr>
              <a:t>.</a:t>
            </a:r>
            <a:endParaRPr sz="800">
              <a:latin typeface="EB Garamond"/>
              <a:ea typeface="EB Garamond"/>
              <a:cs typeface="EB Garamond"/>
              <a:sym typeface="EB Garamond"/>
            </a:endParaRPr>
          </a:p>
        </p:txBody>
      </p:sp>
      <p:sp>
        <p:nvSpPr>
          <p:cNvPr id="154" name="Google Shape;154;g2e5349b7fe2_0_20"/>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solidFill>
                  <a:schemeClr val="dk1"/>
                </a:solidFill>
                <a:latin typeface="EB Garamond"/>
                <a:ea typeface="EB Garamond"/>
                <a:cs typeface="EB Garamond"/>
                <a:sym typeface="EB Garamond"/>
              </a:rPr>
              <a:t>3</a:t>
            </a:r>
            <a:endParaRPr sz="800">
              <a:solidFill>
                <a:schemeClr val="dk1"/>
              </a:solidFill>
              <a:latin typeface="EB Garamond"/>
              <a:ea typeface="EB Garamond"/>
              <a:cs typeface="EB Garamond"/>
              <a:sym typeface="EB 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grpSp>
        <p:nvGrpSpPr>
          <p:cNvPr id="159" name="Google Shape;159;g2e4ecd4405b_0_12"/>
          <p:cNvGrpSpPr/>
          <p:nvPr/>
        </p:nvGrpSpPr>
        <p:grpSpPr>
          <a:xfrm>
            <a:off x="0" y="-36164"/>
            <a:ext cx="9144300" cy="1278131"/>
            <a:chOff x="0" y="-19050"/>
            <a:chExt cx="4816592" cy="831900"/>
          </a:xfrm>
        </p:grpSpPr>
        <p:sp>
          <p:nvSpPr>
            <p:cNvPr id="160" name="Google Shape;160;g2e4ecd4405b_0_12"/>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161" name="Google Shape;161;g2e4ecd4405b_0_12"/>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62" name="Google Shape;162;g2e4ecd4405b_0_12"/>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163" name="Google Shape;163;g2e4ecd4405b_0_12"/>
          <p:cNvSpPr txBox="1"/>
          <p:nvPr/>
        </p:nvSpPr>
        <p:spPr>
          <a:xfrm>
            <a:off x="1845525" y="141450"/>
            <a:ext cx="5453100" cy="5541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600"/>
              <a:buFont typeface="Arial"/>
              <a:buNone/>
            </a:pPr>
            <a:r>
              <a:rPr b="1" lang="en-US" sz="3600">
                <a:solidFill>
                  <a:srgbClr val="FFFFFF"/>
                </a:solidFill>
                <a:latin typeface="Oswald"/>
                <a:ea typeface="Oswald"/>
                <a:cs typeface="Oswald"/>
                <a:sym typeface="Oswald"/>
              </a:rPr>
              <a:t>OVERVIEW</a:t>
            </a:r>
            <a:endParaRPr b="0" i="0" sz="300" u="none" cap="none" strike="noStrike">
              <a:solidFill>
                <a:srgbClr val="000000"/>
              </a:solidFill>
              <a:latin typeface="Arial"/>
              <a:ea typeface="Arial"/>
              <a:cs typeface="Arial"/>
              <a:sym typeface="Arial"/>
            </a:endParaRPr>
          </a:p>
        </p:txBody>
      </p:sp>
      <p:sp>
        <p:nvSpPr>
          <p:cNvPr id="164" name="Google Shape;164;g2e4ecd4405b_0_12"/>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165" name="Google Shape;165;g2e4ecd4405b_0_12"/>
          <p:cNvSpPr txBox="1"/>
          <p:nvPr/>
        </p:nvSpPr>
        <p:spPr>
          <a:xfrm>
            <a:off x="1845525" y="636337"/>
            <a:ext cx="5453100" cy="4926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200"/>
              <a:buFont typeface="Arial"/>
              <a:buNone/>
            </a:pPr>
            <a:r>
              <a:rPr lang="en-US" sz="3200">
                <a:solidFill>
                  <a:srgbClr val="FFFFFF"/>
                </a:solidFill>
                <a:latin typeface="Oswald"/>
                <a:ea typeface="Oswald"/>
                <a:cs typeface="Oswald"/>
                <a:sym typeface="Oswald"/>
              </a:rPr>
              <a:t>Goal</a:t>
            </a:r>
            <a:endParaRPr b="0" i="0" sz="3100" u="none" cap="none" strike="noStrike">
              <a:solidFill>
                <a:srgbClr val="000000"/>
              </a:solidFill>
              <a:latin typeface="Arial"/>
              <a:ea typeface="Arial"/>
              <a:cs typeface="Arial"/>
              <a:sym typeface="Arial"/>
            </a:endParaRPr>
          </a:p>
        </p:txBody>
      </p:sp>
      <p:sp>
        <p:nvSpPr>
          <p:cNvPr id="166" name="Google Shape;166;g2e4ecd4405b_0_12"/>
          <p:cNvSpPr txBox="1"/>
          <p:nvPr/>
        </p:nvSpPr>
        <p:spPr>
          <a:xfrm>
            <a:off x="342295" y="1357475"/>
            <a:ext cx="5262300" cy="3777300"/>
          </a:xfrm>
          <a:prstGeom prst="rect">
            <a:avLst/>
          </a:prstGeom>
          <a:noFill/>
          <a:ln>
            <a:noFill/>
          </a:ln>
        </p:spPr>
        <p:txBody>
          <a:bodyPr anchorCtr="0" anchor="t" bIns="45725" lIns="45725" spcFirstLastPara="1" rIns="45725" wrap="square" tIns="45725">
            <a:spAutoFit/>
          </a:bodyPr>
          <a:lstStyle/>
          <a:p>
            <a:pPr indent="0" lvl="0" marL="0" rtl="0" algn="l">
              <a:lnSpc>
                <a:spcPct val="115000"/>
              </a:lnSpc>
              <a:spcBef>
                <a:spcPts val="0"/>
              </a:spcBef>
              <a:spcAft>
                <a:spcPts val="0"/>
              </a:spcAft>
              <a:buClr>
                <a:schemeClr val="dk1"/>
              </a:buClr>
              <a:buSzPts val="1100"/>
              <a:buFont typeface="Arial"/>
              <a:buNone/>
            </a:pPr>
            <a:r>
              <a:rPr lang="en-US">
                <a:latin typeface="DM Sans"/>
                <a:ea typeface="DM Sans"/>
                <a:cs typeface="DM Sans"/>
                <a:sym typeface="DM Sans"/>
              </a:rPr>
              <a:t>Simulate a robot arm performing </a:t>
            </a:r>
            <a:r>
              <a:rPr lang="en-US">
                <a:latin typeface="DM Sans"/>
                <a:ea typeface="DM Sans"/>
                <a:cs typeface="DM Sans"/>
                <a:sym typeface="DM Sans"/>
              </a:rPr>
              <a:t>Automated</a:t>
            </a:r>
            <a:r>
              <a:rPr lang="en-US">
                <a:latin typeface="DM Sans"/>
                <a:ea typeface="DM Sans"/>
                <a:cs typeface="DM Sans"/>
                <a:sym typeface="DM Sans"/>
              </a:rPr>
              <a:t> Fiber Placement </a:t>
            </a:r>
            <a:endParaRPr>
              <a:latin typeface="DM Sans"/>
              <a:ea typeface="DM Sans"/>
              <a:cs typeface="DM Sans"/>
              <a:sym typeface="DM Sans"/>
            </a:endParaRPr>
          </a:p>
          <a:p>
            <a:pPr indent="-317500" lvl="0" marL="457200" rtl="0" algn="l">
              <a:lnSpc>
                <a:spcPct val="115000"/>
              </a:lnSpc>
              <a:spcBef>
                <a:spcPts val="0"/>
              </a:spcBef>
              <a:spcAft>
                <a:spcPts val="0"/>
              </a:spcAft>
              <a:buSzPts val="1400"/>
              <a:buFont typeface="DM Sans"/>
              <a:buChar char="●"/>
            </a:pPr>
            <a:r>
              <a:rPr lang="en-US">
                <a:latin typeface="DM Sans"/>
                <a:ea typeface="DM Sans"/>
                <a:cs typeface="DM Sans"/>
                <a:sym typeface="DM Sans"/>
              </a:rPr>
              <a:t>A crucial step is the compaction of layers - often using a roller </a:t>
            </a:r>
            <a:endParaRPr>
              <a:latin typeface="DM Sans"/>
              <a:ea typeface="DM Sans"/>
              <a:cs typeface="DM Sans"/>
              <a:sym typeface="DM Sans"/>
            </a:endParaRPr>
          </a:p>
          <a:p>
            <a:pPr indent="-317500" lvl="1" marL="914400" rtl="0" algn="l">
              <a:lnSpc>
                <a:spcPct val="115000"/>
              </a:lnSpc>
              <a:spcBef>
                <a:spcPts val="0"/>
              </a:spcBef>
              <a:spcAft>
                <a:spcPts val="0"/>
              </a:spcAft>
              <a:buSzPts val="1400"/>
              <a:buFont typeface="DM Sans"/>
              <a:buChar char="○"/>
            </a:pPr>
            <a:r>
              <a:rPr lang="en-US">
                <a:latin typeface="DM Sans"/>
                <a:ea typeface="DM Sans"/>
                <a:cs typeface="DM Sans"/>
                <a:sym typeface="DM Sans"/>
              </a:rPr>
              <a:t>Makes fibers flush against the mold </a:t>
            </a:r>
            <a:endParaRPr>
              <a:latin typeface="DM Sans"/>
              <a:ea typeface="DM Sans"/>
              <a:cs typeface="DM Sans"/>
              <a:sym typeface="DM Sans"/>
            </a:endParaRPr>
          </a:p>
          <a:p>
            <a:pPr indent="-317500" lvl="1" marL="914400" rtl="0" algn="l">
              <a:lnSpc>
                <a:spcPct val="115000"/>
              </a:lnSpc>
              <a:spcBef>
                <a:spcPts val="0"/>
              </a:spcBef>
              <a:spcAft>
                <a:spcPts val="0"/>
              </a:spcAft>
              <a:buSzPts val="1400"/>
              <a:buFont typeface="DM Sans"/>
              <a:buChar char="○"/>
            </a:pPr>
            <a:r>
              <a:rPr lang="en-US">
                <a:latin typeface="DM Sans"/>
                <a:ea typeface="DM Sans"/>
                <a:cs typeface="DM Sans"/>
                <a:sym typeface="DM Sans"/>
              </a:rPr>
              <a:t>Improves mechanical performance</a:t>
            </a:r>
            <a:endParaRPr>
              <a:latin typeface="DM Sans"/>
              <a:ea typeface="DM Sans"/>
              <a:cs typeface="DM Sans"/>
              <a:sym typeface="DM Sans"/>
            </a:endParaRPr>
          </a:p>
          <a:p>
            <a:pPr indent="-317500" lvl="1" marL="914400" rtl="0" algn="l">
              <a:lnSpc>
                <a:spcPct val="115000"/>
              </a:lnSpc>
              <a:spcBef>
                <a:spcPts val="0"/>
              </a:spcBef>
              <a:spcAft>
                <a:spcPts val="0"/>
              </a:spcAft>
              <a:buSzPts val="1400"/>
              <a:buFont typeface="DM Sans"/>
              <a:buChar char="○"/>
            </a:pPr>
            <a:r>
              <a:rPr lang="en-US">
                <a:latin typeface="DM Sans"/>
                <a:ea typeface="DM Sans"/>
                <a:cs typeface="DM Sans"/>
                <a:sym typeface="DM Sans"/>
              </a:rPr>
              <a:t>Eliminates air bubbles (may cause premature failure)</a:t>
            </a:r>
            <a:endParaRPr>
              <a:latin typeface="DM Sans"/>
              <a:ea typeface="DM Sans"/>
              <a:cs typeface="DM Sans"/>
              <a:sym typeface="DM Sans"/>
            </a:endParaRPr>
          </a:p>
          <a:p>
            <a:pPr indent="-317500" lvl="0" marL="457200" rtl="0" algn="l">
              <a:lnSpc>
                <a:spcPct val="115000"/>
              </a:lnSpc>
              <a:spcBef>
                <a:spcPts val="0"/>
              </a:spcBef>
              <a:spcAft>
                <a:spcPts val="0"/>
              </a:spcAft>
              <a:buSzPts val="1400"/>
              <a:buFont typeface="DM Sans"/>
              <a:buChar char="●"/>
            </a:pPr>
            <a:r>
              <a:rPr lang="en-US">
                <a:latin typeface="DM Sans"/>
                <a:ea typeface="DM Sans"/>
                <a:cs typeface="DM Sans"/>
                <a:sym typeface="DM Sans"/>
              </a:rPr>
              <a:t>This rolling action can be automated but the unpredictable shape of the mold can result in unconventional trajectories</a:t>
            </a:r>
            <a:endParaRPr>
              <a:latin typeface="DM Sans"/>
              <a:ea typeface="DM Sans"/>
              <a:cs typeface="DM Sans"/>
              <a:sym typeface="DM Sans"/>
            </a:endParaRPr>
          </a:p>
          <a:p>
            <a:pPr indent="-317500" lvl="0" marL="457200" rtl="0" algn="l">
              <a:lnSpc>
                <a:spcPct val="115000"/>
              </a:lnSpc>
              <a:spcBef>
                <a:spcPts val="0"/>
              </a:spcBef>
              <a:spcAft>
                <a:spcPts val="0"/>
              </a:spcAft>
              <a:buSzPts val="1400"/>
              <a:buFont typeface="DM Sans"/>
              <a:buChar char="●"/>
            </a:pPr>
            <a:r>
              <a:rPr lang="en-US">
                <a:latin typeface="DM Sans"/>
                <a:ea typeface="DM Sans"/>
                <a:cs typeface="DM Sans"/>
                <a:sym typeface="DM Sans"/>
              </a:rPr>
              <a:t>Generate various trajectories representing the different fiber directions</a:t>
            </a:r>
            <a:endParaRPr>
              <a:latin typeface="DM Sans"/>
              <a:ea typeface="DM Sans"/>
              <a:cs typeface="DM Sans"/>
              <a:sym typeface="DM Sans"/>
            </a:endParaRPr>
          </a:p>
          <a:p>
            <a:pPr indent="-317500" lvl="0" marL="457200" rtl="0" algn="l">
              <a:lnSpc>
                <a:spcPct val="115000"/>
              </a:lnSpc>
              <a:spcBef>
                <a:spcPts val="0"/>
              </a:spcBef>
              <a:spcAft>
                <a:spcPts val="0"/>
              </a:spcAft>
              <a:buSzPts val="1400"/>
              <a:buFont typeface="DM Sans"/>
              <a:buChar char="●"/>
            </a:pPr>
            <a:r>
              <a:rPr lang="en-US">
                <a:latin typeface="DM Sans"/>
                <a:ea typeface="DM Sans"/>
                <a:cs typeface="DM Sans"/>
                <a:sym typeface="DM Sans"/>
              </a:rPr>
              <a:t>Model the force interaction between the end effector and the environment and demonstrate </a:t>
            </a:r>
            <a:r>
              <a:rPr lang="en-US">
                <a:latin typeface="DM Sans"/>
                <a:ea typeface="DM Sans"/>
                <a:cs typeface="DM Sans"/>
                <a:sym typeface="DM Sans"/>
              </a:rPr>
              <a:t>impedance</a:t>
            </a:r>
            <a:r>
              <a:rPr lang="en-US">
                <a:latin typeface="DM Sans"/>
                <a:ea typeface="DM Sans"/>
                <a:cs typeface="DM Sans"/>
                <a:sym typeface="DM Sans"/>
              </a:rPr>
              <a:t> control</a:t>
            </a:r>
            <a:endParaRPr>
              <a:latin typeface="DM Sans"/>
              <a:ea typeface="DM Sans"/>
              <a:cs typeface="DM Sans"/>
              <a:sym typeface="DM Sans"/>
            </a:endParaRPr>
          </a:p>
        </p:txBody>
      </p:sp>
      <p:pic>
        <p:nvPicPr>
          <p:cNvPr id="167" name="Google Shape;167;g2e4ecd4405b_0_12"/>
          <p:cNvPicPr preferRelativeResize="0"/>
          <p:nvPr/>
        </p:nvPicPr>
        <p:blipFill>
          <a:blip r:embed="rId4">
            <a:alphaModFix/>
          </a:blip>
          <a:stretch>
            <a:fillRect/>
          </a:stretch>
        </p:blipFill>
        <p:spPr>
          <a:xfrm>
            <a:off x="5604537" y="1440225"/>
            <a:ext cx="2922035" cy="2263050"/>
          </a:xfrm>
          <a:prstGeom prst="rect">
            <a:avLst/>
          </a:prstGeom>
          <a:noFill/>
          <a:ln>
            <a:noFill/>
          </a:ln>
        </p:spPr>
      </p:pic>
      <p:sp>
        <p:nvSpPr>
          <p:cNvPr id="168" name="Google Shape;168;g2e4ecd4405b_0_12"/>
          <p:cNvSpPr txBox="1"/>
          <p:nvPr/>
        </p:nvSpPr>
        <p:spPr>
          <a:xfrm>
            <a:off x="5688125" y="3814800"/>
            <a:ext cx="2838600" cy="2154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b="1" lang="en-US" sz="800">
                <a:latin typeface="EB Garamond"/>
                <a:ea typeface="EB Garamond"/>
                <a:cs typeface="EB Garamond"/>
                <a:sym typeface="EB Garamond"/>
              </a:rPr>
              <a:t>Fig 4: Schematic of  AFP roller </a:t>
            </a:r>
            <a:endParaRPr b="1" sz="800">
              <a:latin typeface="EB Garamond"/>
              <a:ea typeface="EB Garamond"/>
              <a:cs typeface="EB Garamond"/>
              <a:sym typeface="EB Garamond"/>
            </a:endParaRPr>
          </a:p>
        </p:txBody>
      </p:sp>
      <p:sp>
        <p:nvSpPr>
          <p:cNvPr id="169" name="Google Shape;169;g2e4ecd4405b_0_12"/>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4</a:t>
            </a:r>
            <a:endParaRPr sz="800">
              <a:latin typeface="EB Garamond"/>
              <a:ea typeface="EB Garamond"/>
              <a:cs typeface="EB Garamond"/>
              <a:sym typeface="EB 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grpSp>
        <p:nvGrpSpPr>
          <p:cNvPr id="174" name="Google Shape;174;g2737952f2e4_0_0"/>
          <p:cNvGrpSpPr/>
          <p:nvPr/>
        </p:nvGrpSpPr>
        <p:grpSpPr>
          <a:xfrm>
            <a:off x="0" y="-36164"/>
            <a:ext cx="9144300" cy="1278131"/>
            <a:chOff x="0" y="-19050"/>
            <a:chExt cx="4816592" cy="831900"/>
          </a:xfrm>
        </p:grpSpPr>
        <p:sp>
          <p:nvSpPr>
            <p:cNvPr id="175" name="Google Shape;175;g2737952f2e4_0_0"/>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176" name="Google Shape;176;g2737952f2e4_0_0"/>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77" name="Google Shape;177;g2737952f2e4_0_0"/>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178" name="Google Shape;178;g2737952f2e4_0_0"/>
          <p:cNvSpPr txBox="1"/>
          <p:nvPr/>
        </p:nvSpPr>
        <p:spPr>
          <a:xfrm>
            <a:off x="1845525" y="141450"/>
            <a:ext cx="5453100" cy="5541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600"/>
              <a:buFont typeface="Arial"/>
              <a:buNone/>
            </a:pPr>
            <a:r>
              <a:rPr b="1" lang="en-US" sz="3600">
                <a:solidFill>
                  <a:srgbClr val="FFFFFF"/>
                </a:solidFill>
                <a:latin typeface="Oswald"/>
                <a:ea typeface="Oswald"/>
                <a:cs typeface="Oswald"/>
                <a:sym typeface="Oswald"/>
              </a:rPr>
              <a:t>METHODS</a:t>
            </a:r>
            <a:endParaRPr b="0" i="0" sz="300" u="none" cap="none" strike="noStrike">
              <a:solidFill>
                <a:srgbClr val="000000"/>
              </a:solidFill>
              <a:latin typeface="Arial"/>
              <a:ea typeface="Arial"/>
              <a:cs typeface="Arial"/>
              <a:sym typeface="Arial"/>
            </a:endParaRPr>
          </a:p>
        </p:txBody>
      </p:sp>
      <p:sp>
        <p:nvSpPr>
          <p:cNvPr id="179" name="Google Shape;179;g2737952f2e4_0_0"/>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180" name="Google Shape;180;g2737952f2e4_0_0"/>
          <p:cNvSpPr txBox="1"/>
          <p:nvPr/>
        </p:nvSpPr>
        <p:spPr>
          <a:xfrm>
            <a:off x="1845525" y="636337"/>
            <a:ext cx="5453100" cy="492600"/>
          </a:xfrm>
          <a:prstGeom prst="rect">
            <a:avLst/>
          </a:prstGeom>
          <a:noFill/>
          <a:ln>
            <a:noFill/>
          </a:ln>
        </p:spPr>
        <p:txBody>
          <a:bodyPr anchorCtr="0" anchor="t" bIns="0" lIns="0" spcFirstLastPara="1" rIns="0" wrap="square" tIns="0">
            <a:spAutoFit/>
          </a:bodyPr>
          <a:lstStyle/>
          <a:p>
            <a:pPr indent="0" lvl="0" marL="0" rtl="0" algn="ctr">
              <a:lnSpc>
                <a:spcPct val="138007"/>
              </a:lnSpc>
              <a:spcBef>
                <a:spcPts val="0"/>
              </a:spcBef>
              <a:spcAft>
                <a:spcPts val="0"/>
              </a:spcAft>
              <a:buClr>
                <a:schemeClr val="dk1"/>
              </a:buClr>
              <a:buSzPts val="1100"/>
              <a:buFont typeface="Arial"/>
              <a:buNone/>
            </a:pPr>
            <a:r>
              <a:rPr lang="en-US" sz="3200">
                <a:solidFill>
                  <a:srgbClr val="FFFFFF"/>
                </a:solidFill>
                <a:latin typeface="Oswald"/>
                <a:ea typeface="Oswald"/>
                <a:cs typeface="Oswald"/>
                <a:sym typeface="Oswald"/>
              </a:rPr>
              <a:t>Trajectory Generation</a:t>
            </a:r>
            <a:endParaRPr sz="3200">
              <a:solidFill>
                <a:srgbClr val="FFFFFF"/>
              </a:solidFill>
              <a:latin typeface="Oswald"/>
              <a:ea typeface="Oswald"/>
              <a:cs typeface="Oswald"/>
              <a:sym typeface="Oswald"/>
            </a:endParaRPr>
          </a:p>
        </p:txBody>
      </p:sp>
      <p:sp>
        <p:nvSpPr>
          <p:cNvPr id="181" name="Google Shape;181;g2737952f2e4_0_0"/>
          <p:cNvSpPr txBox="1"/>
          <p:nvPr/>
        </p:nvSpPr>
        <p:spPr>
          <a:xfrm>
            <a:off x="350150" y="1333900"/>
            <a:ext cx="4998000" cy="1942500"/>
          </a:xfrm>
          <a:prstGeom prst="rect">
            <a:avLst/>
          </a:prstGeom>
          <a:noFill/>
          <a:ln>
            <a:noFill/>
          </a:ln>
        </p:spPr>
        <p:txBody>
          <a:bodyPr anchorCtr="0" anchor="t" bIns="45725" lIns="45725" spcFirstLastPara="1" rIns="45725" wrap="square" tIns="45725">
            <a:spAutoFit/>
          </a:bodyPr>
          <a:lstStyle/>
          <a:p>
            <a:pPr indent="0" lvl="0" marL="0" rtl="0" algn="l">
              <a:lnSpc>
                <a:spcPct val="115000"/>
              </a:lnSpc>
              <a:spcBef>
                <a:spcPts val="1000"/>
              </a:spcBef>
              <a:spcAft>
                <a:spcPts val="0"/>
              </a:spcAft>
              <a:buClr>
                <a:schemeClr val="dk1"/>
              </a:buClr>
              <a:buSzPts val="1100"/>
              <a:buFont typeface="Arial"/>
              <a:buNone/>
            </a:pPr>
            <a:r>
              <a:rPr lang="en-US" sz="1700">
                <a:latin typeface="DM Sans"/>
                <a:ea typeface="DM Sans"/>
                <a:cs typeface="DM Sans"/>
                <a:sym typeface="DM Sans"/>
              </a:rPr>
              <a:t>Constraints</a:t>
            </a:r>
            <a:endParaRPr sz="1700">
              <a:latin typeface="DM Sans"/>
              <a:ea typeface="DM Sans"/>
              <a:cs typeface="DM Sans"/>
              <a:sym typeface="DM Sans"/>
            </a:endParaRPr>
          </a:p>
          <a:p>
            <a:pPr indent="-336550" lvl="0" marL="457200" rtl="0" algn="l">
              <a:lnSpc>
                <a:spcPct val="115000"/>
              </a:lnSpc>
              <a:spcBef>
                <a:spcPts val="1000"/>
              </a:spcBef>
              <a:spcAft>
                <a:spcPts val="0"/>
              </a:spcAft>
              <a:buSzPts val="1700"/>
              <a:buFont typeface="DM Sans"/>
              <a:buChar char="●"/>
            </a:pPr>
            <a:r>
              <a:rPr lang="en-US" sz="1700">
                <a:latin typeface="DM Sans"/>
                <a:ea typeface="DM Sans"/>
                <a:cs typeface="DM Sans"/>
                <a:sym typeface="DM Sans"/>
              </a:rPr>
              <a:t>Roller pressure must remain normal to surface</a:t>
            </a:r>
            <a:endParaRPr sz="1700">
              <a:latin typeface="DM Sans"/>
              <a:ea typeface="DM Sans"/>
              <a:cs typeface="DM Sans"/>
              <a:sym typeface="DM Sans"/>
            </a:endParaRPr>
          </a:p>
          <a:p>
            <a:pPr indent="-336550" lvl="0" marL="457200" rtl="0" algn="l">
              <a:lnSpc>
                <a:spcPct val="115000"/>
              </a:lnSpc>
              <a:spcBef>
                <a:spcPts val="1000"/>
              </a:spcBef>
              <a:spcAft>
                <a:spcPts val="0"/>
              </a:spcAft>
              <a:buSzPts val="1700"/>
              <a:buFont typeface="DM Sans"/>
              <a:buChar char="●"/>
            </a:pPr>
            <a:r>
              <a:rPr lang="en-US" sz="1700">
                <a:latin typeface="DM Sans"/>
                <a:ea typeface="DM Sans"/>
                <a:cs typeface="DM Sans"/>
                <a:sym typeface="DM Sans"/>
              </a:rPr>
              <a:t>Rolling direction must be tangent to path</a:t>
            </a:r>
            <a:endParaRPr sz="1700">
              <a:latin typeface="DM Sans"/>
              <a:ea typeface="DM Sans"/>
              <a:cs typeface="DM Sans"/>
              <a:sym typeface="DM Sans"/>
            </a:endParaRPr>
          </a:p>
          <a:p>
            <a:pPr indent="-336550" lvl="0" marL="457200" rtl="0" algn="l">
              <a:lnSpc>
                <a:spcPct val="115000"/>
              </a:lnSpc>
              <a:spcBef>
                <a:spcPts val="1000"/>
              </a:spcBef>
              <a:spcAft>
                <a:spcPts val="1000"/>
              </a:spcAft>
              <a:buSzPts val="1700"/>
              <a:buFont typeface="DM Sans"/>
              <a:buChar char="●"/>
            </a:pPr>
            <a:r>
              <a:rPr lang="en-US" sz="1700">
                <a:latin typeface="DM Sans"/>
                <a:ea typeface="DM Sans"/>
                <a:cs typeface="DM Sans"/>
                <a:sym typeface="DM Sans"/>
              </a:rPr>
              <a:t>Roller path must cover entire mold surface</a:t>
            </a:r>
            <a:endParaRPr sz="1700">
              <a:latin typeface="DM Sans"/>
              <a:ea typeface="DM Sans"/>
              <a:cs typeface="DM Sans"/>
              <a:sym typeface="DM Sans"/>
            </a:endParaRPr>
          </a:p>
        </p:txBody>
      </p:sp>
      <p:pic>
        <p:nvPicPr>
          <p:cNvPr id="182" name="Google Shape;182;g2737952f2e4_0_0"/>
          <p:cNvPicPr preferRelativeResize="0"/>
          <p:nvPr/>
        </p:nvPicPr>
        <p:blipFill>
          <a:blip r:embed="rId4">
            <a:alphaModFix/>
          </a:blip>
          <a:stretch>
            <a:fillRect/>
          </a:stretch>
        </p:blipFill>
        <p:spPr>
          <a:xfrm>
            <a:off x="5261800" y="1360400"/>
            <a:ext cx="3124200" cy="2422682"/>
          </a:xfrm>
          <a:prstGeom prst="rect">
            <a:avLst/>
          </a:prstGeom>
          <a:noFill/>
          <a:ln>
            <a:noFill/>
          </a:ln>
        </p:spPr>
      </p:pic>
      <p:sp>
        <p:nvSpPr>
          <p:cNvPr id="183" name="Google Shape;183;g2737952f2e4_0_0"/>
          <p:cNvSpPr txBox="1"/>
          <p:nvPr/>
        </p:nvSpPr>
        <p:spPr>
          <a:xfrm>
            <a:off x="5348250" y="3783075"/>
            <a:ext cx="3124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chemeClr val="dk1"/>
                </a:solidFill>
                <a:latin typeface="EB Garamond"/>
                <a:ea typeface="EB Garamond"/>
                <a:cs typeface="EB Garamond"/>
                <a:sym typeface="EB Garamond"/>
              </a:rPr>
              <a:t>Fig 5: Roller position and orientation relative to defined trajectory and mold surface [2]</a:t>
            </a:r>
            <a:endParaRPr b="1" sz="1000">
              <a:solidFill>
                <a:schemeClr val="dk1"/>
              </a:solidFill>
              <a:latin typeface="EB Garamond"/>
              <a:ea typeface="EB Garamond"/>
              <a:cs typeface="EB Garamond"/>
              <a:sym typeface="EB Garamond"/>
            </a:endParaRPr>
          </a:p>
        </p:txBody>
      </p:sp>
      <p:sp>
        <p:nvSpPr>
          <p:cNvPr id="184" name="Google Shape;184;g2737952f2e4_0_0"/>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5</a:t>
            </a:r>
            <a:endParaRPr sz="800">
              <a:latin typeface="EB Garamond"/>
              <a:ea typeface="EB Garamond"/>
              <a:cs typeface="EB Garamond"/>
              <a:sym typeface="EB Garamond"/>
            </a:endParaRPr>
          </a:p>
        </p:txBody>
      </p:sp>
      <p:sp>
        <p:nvSpPr>
          <p:cNvPr id="185" name="Google Shape;185;g2737952f2e4_0_0"/>
          <p:cNvSpPr txBox="1"/>
          <p:nvPr/>
        </p:nvSpPr>
        <p:spPr>
          <a:xfrm>
            <a:off x="350150" y="4447925"/>
            <a:ext cx="8035800" cy="381600"/>
          </a:xfrm>
          <a:prstGeom prst="rect">
            <a:avLst/>
          </a:prstGeom>
          <a:noFill/>
          <a:ln>
            <a:noFill/>
          </a:ln>
        </p:spPr>
        <p:txBody>
          <a:bodyPr anchorCtr="0" anchor="t" bIns="91425" lIns="91425" spcFirstLastPara="1" rIns="91425" wrap="square" tIns="91425">
            <a:spAutoFit/>
          </a:bodyPr>
          <a:lstStyle/>
          <a:p>
            <a:pPr indent="-279400" lvl="0" marL="457200" rtl="0" algn="l">
              <a:lnSpc>
                <a:spcPct val="80000"/>
              </a:lnSpc>
              <a:spcBef>
                <a:spcPts val="0"/>
              </a:spcBef>
              <a:spcAft>
                <a:spcPts val="0"/>
              </a:spcAft>
              <a:buClr>
                <a:srgbClr val="000000"/>
              </a:buClr>
              <a:buSzPts val="800"/>
              <a:buFont typeface="EB Garamond"/>
              <a:buAutoNum type="arabicPeriod" startAt="2"/>
            </a:pPr>
            <a:r>
              <a:rPr lang="en-US" sz="800">
                <a:latin typeface="EB Garamond"/>
                <a:ea typeface="EB Garamond"/>
                <a:cs typeface="EB Garamond"/>
                <a:sym typeface="EB Garamond"/>
              </a:rPr>
              <a:t>Rishi K. Malhan, Aniruddha V. Shembekar, Ariyan M. Kabir, Prahar M. Bhatt, Brual Shah, Scott Zanio, Steven Nutt, Satyandra K. Gupta, Automated planning for robotic layup of composite prepreg, Robotics and Computer-Integrated </a:t>
            </a:r>
            <a:r>
              <a:rPr lang="en-US" sz="800" u="sng">
                <a:solidFill>
                  <a:schemeClr val="hlink"/>
                </a:solidFill>
                <a:latin typeface="EB Garamond"/>
                <a:ea typeface="EB Garamond"/>
                <a:cs typeface="EB Garamond"/>
                <a:sym typeface="EB Garamond"/>
                <a:hlinkClick r:id="rId5"/>
              </a:rPr>
              <a:t>Manufacturing, Volume 67, 2021, 102020, ISSN 0736-5845, https://doi.org/10.1016/j.rcim.2020.102020</a:t>
            </a:r>
            <a:r>
              <a:rPr lang="en-US" sz="800">
                <a:latin typeface="EB Garamond"/>
                <a:ea typeface="EB Garamond"/>
                <a:cs typeface="EB Garamond"/>
                <a:sym typeface="EB Garamond"/>
              </a:rPr>
              <a:t>.</a:t>
            </a:r>
            <a:endParaRPr sz="800">
              <a:latin typeface="EB Garamond"/>
              <a:ea typeface="EB Garamond"/>
              <a:cs typeface="EB Garamond"/>
              <a:sym typeface="EB 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pSp>
        <p:nvGrpSpPr>
          <p:cNvPr id="190" name="Google Shape;190;g2e5217d4d04_0_73"/>
          <p:cNvGrpSpPr/>
          <p:nvPr/>
        </p:nvGrpSpPr>
        <p:grpSpPr>
          <a:xfrm>
            <a:off x="0" y="-36164"/>
            <a:ext cx="9144300" cy="1278131"/>
            <a:chOff x="0" y="-19050"/>
            <a:chExt cx="4816592" cy="831900"/>
          </a:xfrm>
        </p:grpSpPr>
        <p:sp>
          <p:nvSpPr>
            <p:cNvPr id="191" name="Google Shape;191;g2e5217d4d04_0_73"/>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192" name="Google Shape;192;g2e5217d4d04_0_73"/>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93" name="Google Shape;193;g2e5217d4d04_0_73"/>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194" name="Google Shape;194;g2e5217d4d04_0_73"/>
          <p:cNvSpPr txBox="1"/>
          <p:nvPr/>
        </p:nvSpPr>
        <p:spPr>
          <a:xfrm>
            <a:off x="1845525" y="141450"/>
            <a:ext cx="5453100" cy="5541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600"/>
              <a:buFont typeface="Arial"/>
              <a:buNone/>
            </a:pPr>
            <a:r>
              <a:rPr b="1" lang="en-US" sz="3600">
                <a:solidFill>
                  <a:srgbClr val="FFFFFF"/>
                </a:solidFill>
                <a:latin typeface="Oswald"/>
                <a:ea typeface="Oswald"/>
                <a:cs typeface="Oswald"/>
                <a:sym typeface="Oswald"/>
              </a:rPr>
              <a:t>METHODS</a:t>
            </a:r>
            <a:endParaRPr b="0" i="0" sz="300" u="none" cap="none" strike="noStrike">
              <a:solidFill>
                <a:srgbClr val="000000"/>
              </a:solidFill>
              <a:latin typeface="Arial"/>
              <a:ea typeface="Arial"/>
              <a:cs typeface="Arial"/>
              <a:sym typeface="Arial"/>
            </a:endParaRPr>
          </a:p>
        </p:txBody>
      </p:sp>
      <p:sp>
        <p:nvSpPr>
          <p:cNvPr id="195" name="Google Shape;195;g2e5217d4d04_0_73"/>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196" name="Google Shape;196;g2e5217d4d04_0_73"/>
          <p:cNvSpPr txBox="1"/>
          <p:nvPr/>
        </p:nvSpPr>
        <p:spPr>
          <a:xfrm>
            <a:off x="1845525" y="636337"/>
            <a:ext cx="5453100" cy="492600"/>
          </a:xfrm>
          <a:prstGeom prst="rect">
            <a:avLst/>
          </a:prstGeom>
          <a:noFill/>
          <a:ln>
            <a:noFill/>
          </a:ln>
        </p:spPr>
        <p:txBody>
          <a:bodyPr anchorCtr="0" anchor="t" bIns="0" lIns="0" spcFirstLastPara="1" rIns="0" wrap="square" tIns="0">
            <a:spAutoFit/>
          </a:bodyPr>
          <a:lstStyle/>
          <a:p>
            <a:pPr indent="0" lvl="0" marL="0" rtl="0" algn="ctr">
              <a:lnSpc>
                <a:spcPct val="138007"/>
              </a:lnSpc>
              <a:spcBef>
                <a:spcPts val="0"/>
              </a:spcBef>
              <a:spcAft>
                <a:spcPts val="0"/>
              </a:spcAft>
              <a:buClr>
                <a:schemeClr val="dk1"/>
              </a:buClr>
              <a:buSzPts val="1100"/>
              <a:buFont typeface="Arial"/>
              <a:buNone/>
            </a:pPr>
            <a:r>
              <a:rPr lang="en-US" sz="3200">
                <a:solidFill>
                  <a:srgbClr val="FFFFFF"/>
                </a:solidFill>
                <a:latin typeface="Oswald"/>
                <a:ea typeface="Oswald"/>
                <a:cs typeface="Oswald"/>
                <a:sym typeface="Oswald"/>
              </a:rPr>
              <a:t>Trajectory Generation</a:t>
            </a:r>
            <a:endParaRPr sz="3200">
              <a:solidFill>
                <a:srgbClr val="FFFFFF"/>
              </a:solidFill>
              <a:latin typeface="Oswald"/>
              <a:ea typeface="Oswald"/>
              <a:cs typeface="Oswald"/>
              <a:sym typeface="Oswald"/>
            </a:endParaRPr>
          </a:p>
        </p:txBody>
      </p:sp>
      <p:sp>
        <p:nvSpPr>
          <p:cNvPr id="197" name="Google Shape;197;g2e5217d4d04_0_73"/>
          <p:cNvSpPr txBox="1"/>
          <p:nvPr/>
        </p:nvSpPr>
        <p:spPr>
          <a:xfrm>
            <a:off x="311700" y="1307700"/>
            <a:ext cx="4344600" cy="35043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None/>
            </a:pPr>
            <a:r>
              <a:rPr lang="en-US" sz="1800">
                <a:latin typeface="DM Sans"/>
                <a:ea typeface="DM Sans"/>
                <a:cs typeface="DM Sans"/>
                <a:sym typeface="DM Sans"/>
              </a:rPr>
              <a:t>Preliminary Modeling [2]</a:t>
            </a:r>
            <a:endParaRPr sz="1800">
              <a:latin typeface="DM Sans"/>
              <a:ea typeface="DM Sans"/>
              <a:cs typeface="DM Sans"/>
              <a:sym typeface="DM Sans"/>
            </a:endParaRPr>
          </a:p>
          <a:p>
            <a:pPr indent="-334327" lvl="0" marL="457200" rtl="0" algn="l">
              <a:lnSpc>
                <a:spcPct val="115000"/>
              </a:lnSpc>
              <a:spcBef>
                <a:spcPts val="0"/>
              </a:spcBef>
              <a:spcAft>
                <a:spcPts val="0"/>
              </a:spcAft>
              <a:buClr>
                <a:srgbClr val="000000"/>
              </a:buClr>
              <a:buSzPct val="128571"/>
              <a:buFont typeface="DM Sans"/>
              <a:buChar char="●"/>
            </a:pPr>
            <a:r>
              <a:rPr lang="en-US">
                <a:latin typeface="DM Sans"/>
                <a:ea typeface="DM Sans"/>
                <a:cs typeface="DM Sans"/>
                <a:sym typeface="DM Sans"/>
              </a:rPr>
              <a:t>Mold surface modeled as Bezier surface</a:t>
            </a:r>
            <a:endParaRPr>
              <a:latin typeface="DM Sans"/>
              <a:ea typeface="DM Sans"/>
              <a:cs typeface="DM Sans"/>
              <a:sym typeface="DM Sans"/>
            </a:endParaRPr>
          </a:p>
          <a:p>
            <a:pPr indent="-310832" lvl="1" marL="914400" rtl="0" algn="l">
              <a:lnSpc>
                <a:spcPct val="115000"/>
              </a:lnSpc>
              <a:spcBef>
                <a:spcPts val="0"/>
              </a:spcBef>
              <a:spcAft>
                <a:spcPts val="0"/>
              </a:spcAft>
              <a:buClr>
                <a:srgbClr val="000000"/>
              </a:buClr>
              <a:buSzPct val="100000"/>
              <a:buFont typeface="DM Sans"/>
              <a:buChar char="○"/>
            </a:pPr>
            <a:r>
              <a:rPr lang="en-US">
                <a:latin typeface="DM Sans"/>
                <a:ea typeface="DM Sans"/>
                <a:cs typeface="DM Sans"/>
                <a:sym typeface="DM Sans"/>
              </a:rPr>
              <a:t>To simplify initial control design, started with flat mold</a:t>
            </a:r>
            <a:endParaRPr>
              <a:latin typeface="DM Sans"/>
              <a:ea typeface="DM Sans"/>
              <a:cs typeface="DM Sans"/>
              <a:sym typeface="DM Sans"/>
            </a:endParaRPr>
          </a:p>
          <a:p>
            <a:pPr indent="-310832" lvl="1" marL="914400" rtl="0" algn="l">
              <a:lnSpc>
                <a:spcPct val="115000"/>
              </a:lnSpc>
              <a:spcBef>
                <a:spcPts val="0"/>
              </a:spcBef>
              <a:spcAft>
                <a:spcPts val="0"/>
              </a:spcAft>
              <a:buClr>
                <a:srgbClr val="424242"/>
              </a:buClr>
              <a:buSzPct val="100000"/>
              <a:buFont typeface="DM Sans"/>
              <a:buChar char="○"/>
            </a:pPr>
            <a:r>
              <a:rPr lang="en-US">
                <a:latin typeface="DM Sans"/>
                <a:ea typeface="DM Sans"/>
                <a:cs typeface="DM Sans"/>
                <a:sym typeface="DM Sans"/>
              </a:rPr>
              <a:t>Mold surface points converted to mesh using ball-pivoting method for Drake hydroelastic force model</a:t>
            </a:r>
            <a:endParaRPr>
              <a:latin typeface="DM Sans"/>
              <a:ea typeface="DM Sans"/>
              <a:cs typeface="DM Sans"/>
              <a:sym typeface="DM Sans"/>
            </a:endParaRPr>
          </a:p>
          <a:p>
            <a:pPr indent="-334327" lvl="0" marL="457200" rtl="0" algn="l">
              <a:lnSpc>
                <a:spcPct val="115000"/>
              </a:lnSpc>
              <a:spcBef>
                <a:spcPts val="0"/>
              </a:spcBef>
              <a:spcAft>
                <a:spcPts val="0"/>
              </a:spcAft>
              <a:buClr>
                <a:srgbClr val="000000"/>
              </a:buClr>
              <a:buSzPct val="128571"/>
              <a:buFont typeface="DM Sans"/>
              <a:buChar char="●"/>
            </a:pPr>
            <a:r>
              <a:rPr lang="en-US">
                <a:latin typeface="DM Sans"/>
                <a:ea typeface="DM Sans"/>
                <a:cs typeface="DM Sans"/>
                <a:sym typeface="DM Sans"/>
              </a:rPr>
              <a:t>Initial path generated using surface-plane intersection</a:t>
            </a:r>
            <a:endParaRPr>
              <a:latin typeface="DM Sans"/>
              <a:ea typeface="DM Sans"/>
              <a:cs typeface="DM Sans"/>
              <a:sym typeface="DM Sans"/>
            </a:endParaRPr>
          </a:p>
          <a:p>
            <a:pPr indent="-310832" lvl="1" marL="914400" rtl="0" algn="l">
              <a:lnSpc>
                <a:spcPct val="115000"/>
              </a:lnSpc>
              <a:spcBef>
                <a:spcPts val="0"/>
              </a:spcBef>
              <a:spcAft>
                <a:spcPts val="0"/>
              </a:spcAft>
              <a:buClr>
                <a:srgbClr val="000000"/>
              </a:buClr>
              <a:buSzPct val="100000"/>
              <a:buFont typeface="DM Sans"/>
              <a:buChar char="○"/>
            </a:pPr>
            <a:r>
              <a:rPr lang="en-US">
                <a:latin typeface="DM Sans"/>
                <a:ea typeface="DM Sans"/>
                <a:cs typeface="DM Sans"/>
                <a:sym typeface="DM Sans"/>
              </a:rPr>
              <a:t>Reference plane aligned with desired laying orientation</a:t>
            </a:r>
            <a:endParaRPr>
              <a:latin typeface="DM Sans"/>
              <a:ea typeface="DM Sans"/>
              <a:cs typeface="DM Sans"/>
              <a:sym typeface="DM Sans"/>
            </a:endParaRPr>
          </a:p>
          <a:p>
            <a:pPr indent="-334327" lvl="0" marL="457200" rtl="0" algn="l">
              <a:lnSpc>
                <a:spcPct val="115000"/>
              </a:lnSpc>
              <a:spcBef>
                <a:spcPts val="0"/>
              </a:spcBef>
              <a:spcAft>
                <a:spcPts val="0"/>
              </a:spcAft>
              <a:buClr>
                <a:srgbClr val="000000"/>
              </a:buClr>
              <a:buSzPct val="128571"/>
              <a:buFont typeface="DM Sans"/>
              <a:buChar char="●"/>
            </a:pPr>
            <a:r>
              <a:rPr lang="en-US">
                <a:latin typeface="DM Sans"/>
                <a:ea typeface="DM Sans"/>
                <a:cs typeface="DM Sans"/>
                <a:sym typeface="DM Sans"/>
              </a:rPr>
              <a:t>Offset paths also generated using surface-plane intersection</a:t>
            </a:r>
            <a:endParaRPr>
              <a:latin typeface="DM Sans"/>
              <a:ea typeface="DM Sans"/>
              <a:cs typeface="DM Sans"/>
              <a:sym typeface="DM Sans"/>
            </a:endParaRPr>
          </a:p>
          <a:p>
            <a:pPr indent="-310832" lvl="1" marL="914400" rtl="0" algn="l">
              <a:lnSpc>
                <a:spcPct val="115000"/>
              </a:lnSpc>
              <a:spcBef>
                <a:spcPts val="0"/>
              </a:spcBef>
              <a:spcAft>
                <a:spcPts val="0"/>
              </a:spcAft>
              <a:buClr>
                <a:srgbClr val="000000"/>
              </a:buClr>
              <a:buSzPct val="100000"/>
              <a:buFont typeface="DM Sans"/>
              <a:buChar char="○"/>
            </a:pPr>
            <a:r>
              <a:rPr lang="en-US">
                <a:latin typeface="DM Sans"/>
                <a:ea typeface="DM Sans"/>
                <a:cs typeface="DM Sans"/>
                <a:sym typeface="DM Sans"/>
              </a:rPr>
              <a:t>Reference planes are offset from initial reference plane along normal by </a:t>
            </a:r>
            <a:r>
              <a:rPr lang="en-US">
                <a:latin typeface="DM Sans"/>
                <a:ea typeface="DM Sans"/>
                <a:cs typeface="DM Sans"/>
                <a:sym typeface="DM Sans"/>
              </a:rPr>
              <a:t>maximum allowable distance</a:t>
            </a:r>
            <a:endParaRPr>
              <a:latin typeface="DM Sans"/>
              <a:ea typeface="DM Sans"/>
              <a:cs typeface="DM Sans"/>
              <a:sym typeface="DM Sans"/>
            </a:endParaRPr>
          </a:p>
        </p:txBody>
      </p:sp>
      <p:pic>
        <p:nvPicPr>
          <p:cNvPr id="198" name="Google Shape;198;g2e5217d4d04_0_73"/>
          <p:cNvPicPr preferRelativeResize="0"/>
          <p:nvPr/>
        </p:nvPicPr>
        <p:blipFill>
          <a:blip r:embed="rId4">
            <a:alphaModFix/>
          </a:blip>
          <a:stretch>
            <a:fillRect/>
          </a:stretch>
        </p:blipFill>
        <p:spPr>
          <a:xfrm>
            <a:off x="4880700" y="1239325"/>
            <a:ext cx="4059301" cy="2379899"/>
          </a:xfrm>
          <a:prstGeom prst="rect">
            <a:avLst/>
          </a:prstGeom>
          <a:noFill/>
          <a:ln>
            <a:noFill/>
          </a:ln>
        </p:spPr>
      </p:pic>
      <p:pic>
        <p:nvPicPr>
          <p:cNvPr id="199" name="Google Shape;199;g2e5217d4d04_0_73"/>
          <p:cNvPicPr preferRelativeResize="0"/>
          <p:nvPr/>
        </p:nvPicPr>
        <p:blipFill>
          <a:blip r:embed="rId5">
            <a:alphaModFix/>
          </a:blip>
          <a:stretch>
            <a:fillRect/>
          </a:stretch>
        </p:blipFill>
        <p:spPr>
          <a:xfrm>
            <a:off x="5012785" y="3193275"/>
            <a:ext cx="1664565" cy="1278150"/>
          </a:xfrm>
          <a:prstGeom prst="rect">
            <a:avLst/>
          </a:prstGeom>
          <a:noFill/>
          <a:ln>
            <a:noFill/>
          </a:ln>
        </p:spPr>
      </p:pic>
      <p:pic>
        <p:nvPicPr>
          <p:cNvPr id="200" name="Google Shape;200;g2e5217d4d04_0_73"/>
          <p:cNvPicPr preferRelativeResize="0"/>
          <p:nvPr/>
        </p:nvPicPr>
        <p:blipFill>
          <a:blip r:embed="rId6">
            <a:alphaModFix/>
          </a:blip>
          <a:stretch>
            <a:fillRect/>
          </a:stretch>
        </p:blipFill>
        <p:spPr>
          <a:xfrm>
            <a:off x="6677360" y="3298975"/>
            <a:ext cx="1915915" cy="1376875"/>
          </a:xfrm>
          <a:prstGeom prst="rect">
            <a:avLst/>
          </a:prstGeom>
          <a:noFill/>
          <a:ln>
            <a:noFill/>
          </a:ln>
        </p:spPr>
      </p:pic>
      <p:sp>
        <p:nvSpPr>
          <p:cNvPr id="201" name="Google Shape;201;g2e5217d4d04_0_73"/>
          <p:cNvSpPr txBox="1"/>
          <p:nvPr/>
        </p:nvSpPr>
        <p:spPr>
          <a:xfrm>
            <a:off x="311700" y="4564800"/>
            <a:ext cx="4701000" cy="578700"/>
          </a:xfrm>
          <a:prstGeom prst="rect">
            <a:avLst/>
          </a:prstGeom>
          <a:noFill/>
          <a:ln>
            <a:noFill/>
          </a:ln>
        </p:spPr>
        <p:txBody>
          <a:bodyPr anchorCtr="0" anchor="t" bIns="91425" lIns="91425" spcFirstLastPara="1" rIns="91425" wrap="square" tIns="91425">
            <a:spAutoFit/>
          </a:bodyPr>
          <a:lstStyle/>
          <a:p>
            <a:pPr indent="-279400" lvl="0" marL="457200" rtl="0" algn="l">
              <a:lnSpc>
                <a:spcPct val="80000"/>
              </a:lnSpc>
              <a:spcBef>
                <a:spcPts val="0"/>
              </a:spcBef>
              <a:spcAft>
                <a:spcPts val="0"/>
              </a:spcAft>
              <a:buClr>
                <a:srgbClr val="424242"/>
              </a:buClr>
              <a:buSzPts val="800"/>
              <a:buFont typeface="EB Garamond"/>
              <a:buAutoNum type="arabicPeriod" startAt="2"/>
            </a:pPr>
            <a:r>
              <a:rPr lang="en-US" sz="800">
                <a:latin typeface="EB Garamond"/>
                <a:ea typeface="EB Garamond"/>
                <a:cs typeface="EB Garamond"/>
                <a:sym typeface="EB Garamond"/>
              </a:rPr>
              <a:t>Rishi K. Malhan, Aniruddha V. Shembekar, Ariyan M. Kabir, Prahar M. Bhatt, Brual Shah, Scott Zanio, Steven Nutt, Satyandra K. Gupta, Automated planning for robotic layup of composite prepreg, Robotics and Computer-Integrated Manufacturing, Volume 67, 2021, </a:t>
            </a:r>
            <a:r>
              <a:rPr lang="en-US" sz="800" u="sng">
                <a:solidFill>
                  <a:schemeClr val="hlink"/>
                </a:solidFill>
                <a:latin typeface="EB Garamond"/>
                <a:ea typeface="EB Garamond"/>
                <a:cs typeface="EB Garamond"/>
                <a:sym typeface="EB Garamond"/>
                <a:hlinkClick r:id="rId7"/>
              </a:rPr>
              <a:t>102020, ISSN 0736-5845, https://doi.org/10.1016/j.rcim.2020.102020</a:t>
            </a:r>
            <a:r>
              <a:rPr lang="en-US" sz="800">
                <a:solidFill>
                  <a:srgbClr val="424242"/>
                </a:solidFill>
                <a:latin typeface="EB Garamond"/>
                <a:ea typeface="EB Garamond"/>
                <a:cs typeface="EB Garamond"/>
                <a:sym typeface="EB Garamond"/>
              </a:rPr>
              <a:t>.</a:t>
            </a:r>
            <a:endParaRPr sz="800">
              <a:solidFill>
                <a:srgbClr val="424242"/>
              </a:solidFill>
              <a:latin typeface="EB Garamond"/>
              <a:ea typeface="EB Garamond"/>
              <a:cs typeface="EB Garamond"/>
              <a:sym typeface="EB Garamond"/>
            </a:endParaRPr>
          </a:p>
        </p:txBody>
      </p:sp>
      <p:sp>
        <p:nvSpPr>
          <p:cNvPr id="202" name="Google Shape;202;g2e5217d4d04_0_73"/>
          <p:cNvSpPr txBox="1"/>
          <p:nvPr/>
        </p:nvSpPr>
        <p:spPr>
          <a:xfrm>
            <a:off x="5348250" y="4507500"/>
            <a:ext cx="3124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chemeClr val="dk1"/>
                </a:solidFill>
                <a:latin typeface="EB Garamond"/>
                <a:ea typeface="EB Garamond"/>
                <a:cs typeface="EB Garamond"/>
                <a:sym typeface="EB Garamond"/>
              </a:rPr>
              <a:t>Fig 6: Roller position and orientation relative to defined trajectory and mold surface [2]</a:t>
            </a:r>
            <a:endParaRPr b="1" sz="1000">
              <a:solidFill>
                <a:schemeClr val="dk1"/>
              </a:solidFill>
              <a:latin typeface="EB Garamond"/>
              <a:ea typeface="EB Garamond"/>
              <a:cs typeface="EB Garamond"/>
              <a:sym typeface="EB Garamond"/>
            </a:endParaRPr>
          </a:p>
        </p:txBody>
      </p:sp>
      <p:sp>
        <p:nvSpPr>
          <p:cNvPr id="203" name="Google Shape;203;g2e5217d4d04_0_73"/>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6</a:t>
            </a:r>
            <a:endParaRPr sz="800">
              <a:latin typeface="EB Garamond"/>
              <a:ea typeface="EB Garamond"/>
              <a:cs typeface="EB Garamond"/>
              <a:sym typeface="EB 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grpSp>
        <p:nvGrpSpPr>
          <p:cNvPr id="208" name="Google Shape;208;g2e4ecd4405b_0_148"/>
          <p:cNvGrpSpPr/>
          <p:nvPr/>
        </p:nvGrpSpPr>
        <p:grpSpPr>
          <a:xfrm>
            <a:off x="0" y="-36164"/>
            <a:ext cx="9144300" cy="1278131"/>
            <a:chOff x="0" y="-19050"/>
            <a:chExt cx="4816592" cy="831900"/>
          </a:xfrm>
        </p:grpSpPr>
        <p:sp>
          <p:nvSpPr>
            <p:cNvPr id="209" name="Google Shape;209;g2e4ecd4405b_0_148"/>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210" name="Google Shape;210;g2e4ecd4405b_0_148"/>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11" name="Google Shape;211;g2e4ecd4405b_0_148"/>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212" name="Google Shape;212;g2e4ecd4405b_0_148"/>
          <p:cNvSpPr txBox="1"/>
          <p:nvPr/>
        </p:nvSpPr>
        <p:spPr>
          <a:xfrm>
            <a:off x="1845525" y="141450"/>
            <a:ext cx="5453100" cy="5541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600"/>
              <a:buFont typeface="Arial"/>
              <a:buNone/>
            </a:pPr>
            <a:r>
              <a:rPr b="1" lang="en-US" sz="3600">
                <a:solidFill>
                  <a:srgbClr val="FFFFFF"/>
                </a:solidFill>
                <a:latin typeface="Oswald"/>
                <a:ea typeface="Oswald"/>
                <a:cs typeface="Oswald"/>
                <a:sym typeface="Oswald"/>
              </a:rPr>
              <a:t>Methods</a:t>
            </a:r>
            <a:endParaRPr b="0" i="0" sz="300" u="none" cap="none" strike="noStrike">
              <a:solidFill>
                <a:srgbClr val="000000"/>
              </a:solidFill>
              <a:latin typeface="Arial"/>
              <a:ea typeface="Arial"/>
              <a:cs typeface="Arial"/>
              <a:sym typeface="Arial"/>
            </a:endParaRPr>
          </a:p>
        </p:txBody>
      </p:sp>
      <p:sp>
        <p:nvSpPr>
          <p:cNvPr id="213" name="Google Shape;213;g2e4ecd4405b_0_148"/>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214" name="Google Shape;214;g2e4ecd4405b_0_148"/>
          <p:cNvSpPr txBox="1"/>
          <p:nvPr/>
        </p:nvSpPr>
        <p:spPr>
          <a:xfrm>
            <a:off x="1845525" y="636337"/>
            <a:ext cx="5453100" cy="492600"/>
          </a:xfrm>
          <a:prstGeom prst="rect">
            <a:avLst/>
          </a:prstGeom>
          <a:noFill/>
          <a:ln>
            <a:noFill/>
          </a:ln>
        </p:spPr>
        <p:txBody>
          <a:bodyPr anchorCtr="0" anchor="t" bIns="0" lIns="0" spcFirstLastPara="1" rIns="0" wrap="square" tIns="0">
            <a:spAutoFit/>
          </a:bodyPr>
          <a:lstStyle/>
          <a:p>
            <a:pPr indent="0" lvl="0" marL="0" rtl="0" algn="ctr">
              <a:lnSpc>
                <a:spcPct val="138007"/>
              </a:lnSpc>
              <a:spcBef>
                <a:spcPts val="0"/>
              </a:spcBef>
              <a:spcAft>
                <a:spcPts val="0"/>
              </a:spcAft>
              <a:buClr>
                <a:schemeClr val="dk1"/>
              </a:buClr>
              <a:buSzPts val="600"/>
              <a:buFont typeface="Arial"/>
              <a:buNone/>
            </a:pPr>
            <a:r>
              <a:rPr lang="en-US" sz="3200">
                <a:solidFill>
                  <a:srgbClr val="FFFFFF"/>
                </a:solidFill>
                <a:latin typeface="Oswald"/>
                <a:ea typeface="Oswald"/>
                <a:cs typeface="Oswald"/>
                <a:sym typeface="Oswald"/>
              </a:rPr>
              <a:t>Trajectory</a:t>
            </a:r>
            <a:endParaRPr sz="3200">
              <a:solidFill>
                <a:srgbClr val="FFFFFF"/>
              </a:solidFill>
              <a:latin typeface="Oswald"/>
              <a:ea typeface="Oswald"/>
              <a:cs typeface="Oswald"/>
              <a:sym typeface="Oswald"/>
            </a:endParaRPr>
          </a:p>
        </p:txBody>
      </p:sp>
      <p:sp>
        <p:nvSpPr>
          <p:cNvPr id="215" name="Google Shape;215;g2e4ecd4405b_0_148"/>
          <p:cNvSpPr txBox="1"/>
          <p:nvPr/>
        </p:nvSpPr>
        <p:spPr>
          <a:xfrm>
            <a:off x="350150" y="1333888"/>
            <a:ext cx="8394000" cy="6156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sz="1700">
              <a:solidFill>
                <a:schemeClr val="dk1"/>
              </a:solidFill>
              <a:latin typeface="DM Sans"/>
              <a:ea typeface="DM Sans"/>
              <a:cs typeface="DM Sans"/>
              <a:sym typeface="DM Sans"/>
            </a:endParaRPr>
          </a:p>
          <a:p>
            <a:pPr indent="0" lvl="0" marL="228600" rtl="0" algn="l">
              <a:spcBef>
                <a:spcPts val="0"/>
              </a:spcBef>
              <a:spcAft>
                <a:spcPts val="0"/>
              </a:spcAft>
              <a:buNone/>
            </a:pPr>
            <a:r>
              <a:t/>
            </a:r>
            <a:endParaRPr sz="1700">
              <a:solidFill>
                <a:schemeClr val="dk1"/>
              </a:solidFill>
              <a:latin typeface="DM Sans"/>
              <a:ea typeface="DM Sans"/>
              <a:cs typeface="DM Sans"/>
              <a:sym typeface="DM Sans"/>
            </a:endParaRPr>
          </a:p>
        </p:txBody>
      </p:sp>
      <p:pic>
        <p:nvPicPr>
          <p:cNvPr id="216" name="Google Shape;216;g2e4ecd4405b_0_148"/>
          <p:cNvPicPr preferRelativeResize="0"/>
          <p:nvPr/>
        </p:nvPicPr>
        <p:blipFill>
          <a:blip r:embed="rId4">
            <a:alphaModFix/>
          </a:blip>
          <a:stretch>
            <a:fillRect/>
          </a:stretch>
        </p:blipFill>
        <p:spPr>
          <a:xfrm>
            <a:off x="628550" y="1714488"/>
            <a:ext cx="3868425" cy="2889213"/>
          </a:xfrm>
          <a:prstGeom prst="rect">
            <a:avLst/>
          </a:prstGeom>
          <a:noFill/>
          <a:ln>
            <a:noFill/>
          </a:ln>
        </p:spPr>
      </p:pic>
      <p:pic>
        <p:nvPicPr>
          <p:cNvPr id="217" name="Google Shape;217;g2e4ecd4405b_0_148"/>
          <p:cNvPicPr preferRelativeResize="0"/>
          <p:nvPr/>
        </p:nvPicPr>
        <p:blipFill>
          <a:blip r:embed="rId5">
            <a:alphaModFix/>
          </a:blip>
          <a:stretch>
            <a:fillRect/>
          </a:stretch>
        </p:blipFill>
        <p:spPr>
          <a:xfrm>
            <a:off x="4710825" y="1714488"/>
            <a:ext cx="3877485" cy="2889213"/>
          </a:xfrm>
          <a:prstGeom prst="rect">
            <a:avLst/>
          </a:prstGeom>
          <a:noFill/>
          <a:ln>
            <a:noFill/>
          </a:ln>
        </p:spPr>
      </p:pic>
      <p:sp>
        <p:nvSpPr>
          <p:cNvPr id="218" name="Google Shape;218;g2e4ecd4405b_0_148"/>
          <p:cNvSpPr txBox="1"/>
          <p:nvPr/>
        </p:nvSpPr>
        <p:spPr>
          <a:xfrm>
            <a:off x="1586108" y="4561800"/>
            <a:ext cx="1953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chemeClr val="dk1"/>
                </a:solidFill>
                <a:latin typeface="EB Garamond"/>
                <a:ea typeface="EB Garamond"/>
                <a:cs typeface="EB Garamond"/>
                <a:sym typeface="EB Garamond"/>
              </a:rPr>
              <a:t>Fig 7: </a:t>
            </a:r>
            <a:r>
              <a:rPr b="1" lang="en-US" sz="1000">
                <a:solidFill>
                  <a:schemeClr val="dk1"/>
                </a:solidFill>
                <a:latin typeface="EB Garamond"/>
                <a:ea typeface="EB Garamond"/>
                <a:cs typeface="EB Garamond"/>
                <a:sym typeface="EB Garamond"/>
              </a:rPr>
              <a:t>Trajectory</a:t>
            </a:r>
            <a:r>
              <a:rPr b="1" lang="en-US" sz="1000">
                <a:solidFill>
                  <a:schemeClr val="dk1"/>
                </a:solidFill>
                <a:latin typeface="EB Garamond"/>
                <a:ea typeface="EB Garamond"/>
                <a:cs typeface="EB Garamond"/>
                <a:sym typeface="EB Garamond"/>
              </a:rPr>
              <a:t> of Planar Case</a:t>
            </a:r>
            <a:endParaRPr b="1" sz="1000">
              <a:solidFill>
                <a:schemeClr val="dk1"/>
              </a:solidFill>
              <a:latin typeface="EB Garamond"/>
              <a:ea typeface="EB Garamond"/>
              <a:cs typeface="EB Garamond"/>
              <a:sym typeface="EB Garamond"/>
            </a:endParaRPr>
          </a:p>
        </p:txBody>
      </p:sp>
      <p:sp>
        <p:nvSpPr>
          <p:cNvPr id="219" name="Google Shape;219;g2e4ecd4405b_0_148"/>
          <p:cNvSpPr txBox="1"/>
          <p:nvPr/>
        </p:nvSpPr>
        <p:spPr>
          <a:xfrm>
            <a:off x="5764413" y="4561800"/>
            <a:ext cx="1770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chemeClr val="dk1"/>
                </a:solidFill>
                <a:latin typeface="EB Garamond"/>
                <a:ea typeface="EB Garamond"/>
                <a:cs typeface="EB Garamond"/>
                <a:sym typeface="EB Garamond"/>
              </a:rPr>
              <a:t>Fig 8: Trajectory of Push Test</a:t>
            </a:r>
            <a:endParaRPr b="1" sz="1000">
              <a:solidFill>
                <a:schemeClr val="dk1"/>
              </a:solidFill>
              <a:latin typeface="EB Garamond"/>
              <a:ea typeface="EB Garamond"/>
              <a:cs typeface="EB Garamond"/>
              <a:sym typeface="EB Garamond"/>
            </a:endParaRPr>
          </a:p>
        </p:txBody>
      </p:sp>
      <p:sp>
        <p:nvSpPr>
          <p:cNvPr id="220" name="Google Shape;220;g2e4ecd4405b_0_148"/>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7</a:t>
            </a:r>
            <a:endParaRPr sz="800">
              <a:latin typeface="EB Garamond"/>
              <a:ea typeface="EB Garamond"/>
              <a:cs typeface="EB Garamond"/>
              <a:sym typeface="EB 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grpSp>
        <p:nvGrpSpPr>
          <p:cNvPr id="225" name="Google Shape;225;g2e4ecd4405b_0_123"/>
          <p:cNvGrpSpPr/>
          <p:nvPr/>
        </p:nvGrpSpPr>
        <p:grpSpPr>
          <a:xfrm>
            <a:off x="0" y="-36164"/>
            <a:ext cx="9144300" cy="1278131"/>
            <a:chOff x="0" y="-19050"/>
            <a:chExt cx="4816592" cy="831900"/>
          </a:xfrm>
        </p:grpSpPr>
        <p:sp>
          <p:nvSpPr>
            <p:cNvPr id="226" name="Google Shape;226;g2e4ecd4405b_0_123"/>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227" name="Google Shape;227;g2e4ecd4405b_0_123"/>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28" name="Google Shape;228;g2e4ecd4405b_0_123"/>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229" name="Google Shape;229;g2e4ecd4405b_0_123"/>
          <p:cNvSpPr txBox="1"/>
          <p:nvPr/>
        </p:nvSpPr>
        <p:spPr>
          <a:xfrm>
            <a:off x="989175" y="140088"/>
            <a:ext cx="7165800" cy="554100"/>
          </a:xfrm>
          <a:prstGeom prst="rect">
            <a:avLst/>
          </a:prstGeom>
          <a:noFill/>
          <a:ln>
            <a:noFill/>
          </a:ln>
        </p:spPr>
        <p:txBody>
          <a:bodyPr anchorCtr="0" anchor="t" bIns="0" lIns="0" spcFirstLastPara="1" rIns="0" wrap="square" tIns="0">
            <a:spAutoFit/>
          </a:bodyPr>
          <a:lstStyle/>
          <a:p>
            <a:pPr indent="0" lvl="0" marL="0" rtl="0" algn="ctr">
              <a:lnSpc>
                <a:spcPct val="138007"/>
              </a:lnSpc>
              <a:spcBef>
                <a:spcPts val="0"/>
              </a:spcBef>
              <a:spcAft>
                <a:spcPts val="0"/>
              </a:spcAft>
              <a:buClr>
                <a:schemeClr val="dk1"/>
              </a:buClr>
              <a:buSzPts val="600"/>
              <a:buFont typeface="Arial"/>
              <a:buNone/>
            </a:pPr>
            <a:r>
              <a:rPr b="1" lang="en-US" sz="3600">
                <a:solidFill>
                  <a:srgbClr val="FFFFFF"/>
                </a:solidFill>
                <a:latin typeface="Oswald"/>
                <a:ea typeface="Oswald"/>
                <a:cs typeface="Oswald"/>
                <a:sym typeface="Oswald"/>
              </a:rPr>
              <a:t>CONTROLLER DESIGN</a:t>
            </a:r>
            <a:endParaRPr b="1" sz="3600">
              <a:solidFill>
                <a:srgbClr val="FFFFFF"/>
              </a:solidFill>
              <a:latin typeface="Oswald"/>
              <a:ea typeface="Oswald"/>
              <a:cs typeface="Oswald"/>
              <a:sym typeface="Oswald"/>
            </a:endParaRPr>
          </a:p>
        </p:txBody>
      </p:sp>
      <p:sp>
        <p:nvSpPr>
          <p:cNvPr id="230" name="Google Shape;230;g2e4ecd4405b_0_123"/>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231" name="Google Shape;231;g2e4ecd4405b_0_123"/>
          <p:cNvSpPr txBox="1"/>
          <p:nvPr/>
        </p:nvSpPr>
        <p:spPr>
          <a:xfrm>
            <a:off x="1845525" y="636337"/>
            <a:ext cx="5453100" cy="4926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200"/>
              <a:buFont typeface="Arial"/>
              <a:buNone/>
            </a:pPr>
            <a:r>
              <a:rPr lang="en-US" sz="3200">
                <a:solidFill>
                  <a:srgbClr val="FFFFFF"/>
                </a:solidFill>
                <a:latin typeface="Oswald"/>
                <a:ea typeface="Oswald"/>
                <a:cs typeface="Oswald"/>
                <a:sym typeface="Oswald"/>
              </a:rPr>
              <a:t>Objectives</a:t>
            </a:r>
            <a:endParaRPr b="0" i="0" sz="3100" u="none" cap="none" strike="noStrike">
              <a:solidFill>
                <a:srgbClr val="000000"/>
              </a:solidFill>
              <a:latin typeface="Arial"/>
              <a:ea typeface="Arial"/>
              <a:cs typeface="Arial"/>
              <a:sym typeface="Arial"/>
            </a:endParaRPr>
          </a:p>
        </p:txBody>
      </p:sp>
      <p:sp>
        <p:nvSpPr>
          <p:cNvPr id="232" name="Google Shape;232;g2e4ecd4405b_0_123"/>
          <p:cNvSpPr txBox="1"/>
          <p:nvPr/>
        </p:nvSpPr>
        <p:spPr>
          <a:xfrm>
            <a:off x="305850" y="1295375"/>
            <a:ext cx="8532600" cy="3974400"/>
          </a:xfrm>
          <a:prstGeom prst="rect">
            <a:avLst/>
          </a:prstGeom>
          <a:noFill/>
          <a:ln>
            <a:noFill/>
          </a:ln>
        </p:spPr>
        <p:txBody>
          <a:bodyPr anchorCtr="0" anchor="t" bIns="45725" lIns="45725" spcFirstLastPara="1" rIns="45725" wrap="square" tIns="45725">
            <a:spAutoFit/>
          </a:bodyPr>
          <a:lstStyle/>
          <a:p>
            <a:pPr indent="-311150" lvl="0" marL="457200" rtl="0" algn="l">
              <a:lnSpc>
                <a:spcPct val="115000"/>
              </a:lnSpc>
              <a:spcBef>
                <a:spcPts val="0"/>
              </a:spcBef>
              <a:spcAft>
                <a:spcPts val="0"/>
              </a:spcAft>
              <a:buSzPts val="1300"/>
              <a:buFont typeface="DM Sans"/>
              <a:buChar char="●"/>
            </a:pPr>
            <a:r>
              <a:rPr lang="en-US" sz="1300">
                <a:latin typeface="DM Sans"/>
                <a:ea typeface="DM Sans"/>
                <a:cs typeface="DM Sans"/>
                <a:sym typeface="DM Sans"/>
              </a:rPr>
              <a:t>Since the manipulator must not inflict any more defects on the pieces, the force applied by the end effector must be controlled </a:t>
            </a:r>
            <a:endParaRPr sz="1300">
              <a:latin typeface="DM Sans"/>
              <a:ea typeface="DM Sans"/>
              <a:cs typeface="DM Sans"/>
              <a:sym typeface="DM Sans"/>
            </a:endParaRPr>
          </a:p>
          <a:p>
            <a:pPr indent="-311150" lvl="0" marL="457200" rtl="0" algn="l">
              <a:lnSpc>
                <a:spcPct val="115000"/>
              </a:lnSpc>
              <a:spcBef>
                <a:spcPts val="0"/>
              </a:spcBef>
              <a:spcAft>
                <a:spcPts val="0"/>
              </a:spcAft>
              <a:buSzPts val="1300"/>
              <a:buFont typeface="DM Sans"/>
              <a:buChar char="●"/>
            </a:pPr>
            <a:r>
              <a:rPr lang="en-US" sz="1300">
                <a:latin typeface="DM Sans"/>
                <a:ea typeface="DM Sans"/>
                <a:cs typeface="DM Sans"/>
                <a:sym typeface="DM Sans"/>
              </a:rPr>
              <a:t>The manipulator must be able follow along the curvature of the mold</a:t>
            </a:r>
            <a:endParaRPr sz="1300">
              <a:latin typeface="DM Sans"/>
              <a:ea typeface="DM Sans"/>
              <a:cs typeface="DM Sans"/>
              <a:sym typeface="DM Sans"/>
            </a:endParaRPr>
          </a:p>
          <a:p>
            <a:pPr indent="-311150" lvl="0" marL="457200" rtl="0" algn="l">
              <a:lnSpc>
                <a:spcPct val="115000"/>
              </a:lnSpc>
              <a:spcBef>
                <a:spcPts val="0"/>
              </a:spcBef>
              <a:spcAft>
                <a:spcPts val="0"/>
              </a:spcAft>
              <a:buSzPts val="1300"/>
              <a:buFont typeface="DM Sans"/>
              <a:buChar char="●"/>
            </a:pPr>
            <a:r>
              <a:rPr lang="en-US" sz="1300">
                <a:latin typeface="DM Sans"/>
                <a:ea typeface="DM Sans"/>
                <a:cs typeface="DM Sans"/>
                <a:sym typeface="DM Sans"/>
              </a:rPr>
              <a:t>Smooth and controlled motion</a:t>
            </a:r>
            <a:endParaRPr sz="1300">
              <a:latin typeface="DM Sans"/>
              <a:ea typeface="DM Sans"/>
              <a:cs typeface="DM Sans"/>
              <a:sym typeface="DM Sans"/>
            </a:endParaRPr>
          </a:p>
          <a:p>
            <a:pPr indent="0" lvl="0" marL="0" rtl="0" algn="l">
              <a:lnSpc>
                <a:spcPct val="115000"/>
              </a:lnSpc>
              <a:spcBef>
                <a:spcPts val="0"/>
              </a:spcBef>
              <a:spcAft>
                <a:spcPts val="0"/>
              </a:spcAft>
              <a:buNone/>
            </a:pPr>
            <a:r>
              <a:rPr lang="en-US" sz="1300">
                <a:latin typeface="DM Sans"/>
                <a:ea typeface="DM Sans"/>
                <a:cs typeface="DM Sans"/>
                <a:sym typeface="DM Sans"/>
              </a:rPr>
              <a:t>Assumptions</a:t>
            </a:r>
            <a:endParaRPr sz="1300">
              <a:latin typeface="DM Sans"/>
              <a:ea typeface="DM Sans"/>
              <a:cs typeface="DM Sans"/>
              <a:sym typeface="DM Sans"/>
            </a:endParaRPr>
          </a:p>
          <a:p>
            <a:pPr indent="-311150" lvl="0" marL="457200" rtl="0" algn="l">
              <a:lnSpc>
                <a:spcPct val="115000"/>
              </a:lnSpc>
              <a:spcBef>
                <a:spcPts val="0"/>
              </a:spcBef>
              <a:spcAft>
                <a:spcPts val="0"/>
              </a:spcAft>
              <a:buSzPts val="1300"/>
              <a:buFont typeface="DM Sans"/>
              <a:buChar char="●"/>
            </a:pPr>
            <a:r>
              <a:rPr lang="en-US" sz="1300">
                <a:latin typeface="DM Sans"/>
                <a:ea typeface="DM Sans"/>
                <a:cs typeface="DM Sans"/>
                <a:sym typeface="DM Sans"/>
              </a:rPr>
              <a:t>Force acting on the end effector are NOT negligible</a:t>
            </a:r>
            <a:endParaRPr sz="1300">
              <a:latin typeface="DM Sans"/>
              <a:ea typeface="DM Sans"/>
              <a:cs typeface="DM Sans"/>
              <a:sym typeface="DM Sans"/>
            </a:endParaRPr>
          </a:p>
          <a:p>
            <a:pPr indent="-311150" lvl="1" marL="914400" rtl="0" algn="l">
              <a:lnSpc>
                <a:spcPct val="115000"/>
              </a:lnSpc>
              <a:spcBef>
                <a:spcPts val="0"/>
              </a:spcBef>
              <a:spcAft>
                <a:spcPts val="0"/>
              </a:spcAft>
              <a:buSzPts val="1300"/>
              <a:buFont typeface="DM Sans"/>
              <a:buChar char="○"/>
            </a:pPr>
            <a:r>
              <a:rPr lang="en-US" sz="1300">
                <a:latin typeface="DM Sans"/>
                <a:ea typeface="DM Sans"/>
                <a:cs typeface="DM Sans"/>
                <a:sym typeface="DM Sans"/>
              </a:rPr>
              <a:t>Ensuring that there are no defects into the final product </a:t>
            </a:r>
            <a:endParaRPr sz="1300">
              <a:latin typeface="DM Sans"/>
              <a:ea typeface="DM Sans"/>
              <a:cs typeface="DM Sans"/>
              <a:sym typeface="DM Sans"/>
            </a:endParaRPr>
          </a:p>
          <a:p>
            <a:pPr indent="-311150" lvl="0" marL="457200" rtl="0" algn="l">
              <a:lnSpc>
                <a:spcPct val="115000"/>
              </a:lnSpc>
              <a:spcBef>
                <a:spcPts val="0"/>
              </a:spcBef>
              <a:spcAft>
                <a:spcPts val="0"/>
              </a:spcAft>
              <a:buSzPts val="1300"/>
              <a:buFont typeface="DM Sans"/>
              <a:buChar char="●"/>
            </a:pPr>
            <a:r>
              <a:rPr lang="en-US" sz="1300">
                <a:latin typeface="DM Sans"/>
                <a:ea typeface="DM Sans"/>
                <a:cs typeface="DM Sans"/>
                <a:sym typeface="DM Sans"/>
              </a:rPr>
              <a:t>The geometry of the mold is already known </a:t>
            </a:r>
            <a:endParaRPr sz="1300">
              <a:latin typeface="DM Sans"/>
              <a:ea typeface="DM Sans"/>
              <a:cs typeface="DM Sans"/>
              <a:sym typeface="DM Sans"/>
            </a:endParaRPr>
          </a:p>
          <a:p>
            <a:pPr indent="-311150" lvl="0" marL="457200" rtl="0" algn="l">
              <a:lnSpc>
                <a:spcPct val="115000"/>
              </a:lnSpc>
              <a:spcBef>
                <a:spcPts val="0"/>
              </a:spcBef>
              <a:spcAft>
                <a:spcPts val="0"/>
              </a:spcAft>
              <a:buSzPts val="1300"/>
              <a:buFont typeface="DM Sans"/>
              <a:buChar char="●"/>
            </a:pPr>
            <a:r>
              <a:rPr lang="en-US" sz="1300">
                <a:latin typeface="DM Sans"/>
                <a:ea typeface="DM Sans"/>
                <a:cs typeface="DM Sans"/>
                <a:sym typeface="DM Sans"/>
              </a:rPr>
              <a:t>Perfect force and orientation feedback </a:t>
            </a:r>
            <a:endParaRPr sz="1300">
              <a:latin typeface="DM Sans"/>
              <a:ea typeface="DM Sans"/>
              <a:cs typeface="DM Sans"/>
              <a:sym typeface="DM Sans"/>
            </a:endParaRPr>
          </a:p>
          <a:p>
            <a:pPr indent="-311150" lvl="0" marL="457200" rtl="0" algn="l">
              <a:lnSpc>
                <a:spcPct val="115000"/>
              </a:lnSpc>
              <a:spcBef>
                <a:spcPts val="0"/>
              </a:spcBef>
              <a:spcAft>
                <a:spcPts val="0"/>
              </a:spcAft>
              <a:buSzPts val="1300"/>
              <a:buFont typeface="DM Sans"/>
              <a:buChar char="●"/>
            </a:pPr>
            <a:r>
              <a:rPr lang="en-US" sz="1300">
                <a:latin typeface="DM Sans"/>
                <a:ea typeface="DM Sans"/>
                <a:cs typeface="DM Sans"/>
                <a:sym typeface="DM Sans"/>
              </a:rPr>
              <a:t>For the planar case:</a:t>
            </a:r>
            <a:endParaRPr sz="1300">
              <a:latin typeface="DM Sans"/>
              <a:ea typeface="DM Sans"/>
              <a:cs typeface="DM Sans"/>
              <a:sym typeface="DM Sans"/>
            </a:endParaRPr>
          </a:p>
          <a:p>
            <a:pPr indent="-311150" lvl="1" marL="914400" rtl="0" algn="l">
              <a:lnSpc>
                <a:spcPct val="115000"/>
              </a:lnSpc>
              <a:spcBef>
                <a:spcPts val="0"/>
              </a:spcBef>
              <a:spcAft>
                <a:spcPts val="0"/>
              </a:spcAft>
              <a:buSzPts val="1300"/>
              <a:buFont typeface="DM Sans"/>
              <a:buChar char="○"/>
            </a:pPr>
            <a:r>
              <a:rPr lang="en-US" sz="1300">
                <a:latin typeface="DM Sans"/>
                <a:ea typeface="DM Sans"/>
                <a:cs typeface="DM Sans"/>
                <a:sym typeface="DM Sans"/>
              </a:rPr>
              <a:t>Desired end effector orientation and angular velocities are constant, with angular velocities set to zero</a:t>
            </a:r>
            <a:endParaRPr sz="1300">
              <a:latin typeface="DM Sans"/>
              <a:ea typeface="DM Sans"/>
              <a:cs typeface="DM Sans"/>
              <a:sym typeface="DM Sans"/>
            </a:endParaRPr>
          </a:p>
          <a:p>
            <a:pPr indent="0" lvl="0" marL="0" rtl="0" algn="l">
              <a:lnSpc>
                <a:spcPct val="115000"/>
              </a:lnSpc>
              <a:spcBef>
                <a:spcPts val="0"/>
              </a:spcBef>
              <a:spcAft>
                <a:spcPts val="0"/>
              </a:spcAft>
              <a:buNone/>
            </a:pPr>
            <a:r>
              <a:rPr lang="en-US" sz="1300">
                <a:latin typeface="DM Sans"/>
                <a:ea typeface="DM Sans"/>
                <a:cs typeface="DM Sans"/>
                <a:sym typeface="DM Sans"/>
              </a:rPr>
              <a:t>Controller Evaluations</a:t>
            </a:r>
            <a:endParaRPr sz="1300">
              <a:latin typeface="DM Sans"/>
              <a:ea typeface="DM Sans"/>
              <a:cs typeface="DM Sans"/>
              <a:sym typeface="DM Sans"/>
            </a:endParaRPr>
          </a:p>
          <a:p>
            <a:pPr indent="-311150" lvl="0" marL="457200" rtl="0" algn="l">
              <a:lnSpc>
                <a:spcPct val="115000"/>
              </a:lnSpc>
              <a:spcBef>
                <a:spcPts val="0"/>
              </a:spcBef>
              <a:spcAft>
                <a:spcPts val="0"/>
              </a:spcAft>
              <a:buSzPts val="1300"/>
              <a:buFont typeface="DM Sans"/>
              <a:buChar char="●"/>
            </a:pPr>
            <a:r>
              <a:rPr lang="en-US" sz="1300">
                <a:latin typeface="DM Sans"/>
                <a:ea typeface="DM Sans"/>
                <a:cs typeface="DM Sans"/>
                <a:sym typeface="DM Sans"/>
              </a:rPr>
              <a:t>The controller will be evaluated on how well the arm follows the </a:t>
            </a:r>
            <a:r>
              <a:rPr lang="en-US" sz="1300">
                <a:latin typeface="DM Sans"/>
                <a:ea typeface="DM Sans"/>
                <a:cs typeface="DM Sans"/>
                <a:sym typeface="DM Sans"/>
              </a:rPr>
              <a:t>trajectory</a:t>
            </a:r>
            <a:r>
              <a:rPr lang="en-US" sz="1300">
                <a:latin typeface="DM Sans"/>
                <a:ea typeface="DM Sans"/>
                <a:cs typeface="DM Sans"/>
                <a:sym typeface="DM Sans"/>
              </a:rPr>
              <a:t>. This error bound is currently set to 2.5 offset </a:t>
            </a:r>
            <a:r>
              <a:rPr lang="en-US" sz="1300">
                <a:latin typeface="DM Sans"/>
                <a:ea typeface="DM Sans"/>
                <a:cs typeface="DM Sans"/>
                <a:sym typeface="DM Sans"/>
              </a:rPr>
              <a:t>millimeters in the constrained directions. </a:t>
            </a:r>
            <a:endParaRPr sz="1300">
              <a:latin typeface="DM Sans"/>
              <a:ea typeface="DM Sans"/>
              <a:cs typeface="DM Sans"/>
              <a:sym typeface="DM Sans"/>
            </a:endParaRPr>
          </a:p>
          <a:p>
            <a:pPr indent="-311150" lvl="0" marL="457200" rtl="0" algn="l">
              <a:lnSpc>
                <a:spcPct val="115000"/>
              </a:lnSpc>
              <a:spcBef>
                <a:spcPts val="0"/>
              </a:spcBef>
              <a:spcAft>
                <a:spcPts val="0"/>
              </a:spcAft>
              <a:buSzPts val="1300"/>
              <a:buFont typeface="DM Sans"/>
              <a:buChar char="●"/>
            </a:pPr>
            <a:r>
              <a:rPr lang="en-US" sz="1300">
                <a:latin typeface="DM Sans"/>
                <a:ea typeface="DM Sans"/>
                <a:cs typeface="DM Sans"/>
                <a:sym typeface="DM Sans"/>
              </a:rPr>
              <a:t>The controller should have a non-zero force value when the end effector is interacting with the mold as well perform. The end effector should also exert a constant force </a:t>
            </a:r>
            <a:endParaRPr sz="1300">
              <a:latin typeface="DM Sans"/>
              <a:ea typeface="DM Sans"/>
              <a:cs typeface="DM Sans"/>
              <a:sym typeface="DM Sans"/>
            </a:endParaRPr>
          </a:p>
        </p:txBody>
      </p:sp>
      <p:sp>
        <p:nvSpPr>
          <p:cNvPr id="233" name="Google Shape;233;g2e4ecd4405b_0_123"/>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8</a:t>
            </a:r>
            <a:endParaRPr sz="800">
              <a:latin typeface="EB Garamond"/>
              <a:ea typeface="EB Garamond"/>
              <a:cs typeface="EB Garamond"/>
              <a:sym typeface="EB Garamo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grpSp>
        <p:nvGrpSpPr>
          <p:cNvPr id="238" name="Google Shape;238;g2e5349b7fe2_0_42"/>
          <p:cNvGrpSpPr/>
          <p:nvPr/>
        </p:nvGrpSpPr>
        <p:grpSpPr>
          <a:xfrm>
            <a:off x="0" y="-36164"/>
            <a:ext cx="9144300" cy="1278131"/>
            <a:chOff x="0" y="-19050"/>
            <a:chExt cx="4816592" cy="831900"/>
          </a:xfrm>
        </p:grpSpPr>
        <p:sp>
          <p:nvSpPr>
            <p:cNvPr id="239" name="Google Shape;239;g2e5349b7fe2_0_42"/>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240" name="Google Shape;240;g2e5349b7fe2_0_42"/>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41" name="Google Shape;241;g2e5349b7fe2_0_42"/>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242" name="Google Shape;242;g2e5349b7fe2_0_42"/>
          <p:cNvSpPr txBox="1"/>
          <p:nvPr/>
        </p:nvSpPr>
        <p:spPr>
          <a:xfrm>
            <a:off x="989175" y="140088"/>
            <a:ext cx="7165800" cy="554100"/>
          </a:xfrm>
          <a:prstGeom prst="rect">
            <a:avLst/>
          </a:prstGeom>
          <a:noFill/>
          <a:ln>
            <a:noFill/>
          </a:ln>
        </p:spPr>
        <p:txBody>
          <a:bodyPr anchorCtr="0" anchor="t" bIns="0" lIns="0" spcFirstLastPara="1" rIns="0" wrap="square" tIns="0">
            <a:spAutoFit/>
          </a:bodyPr>
          <a:lstStyle/>
          <a:p>
            <a:pPr indent="0" lvl="0" marL="0" rtl="0" algn="ctr">
              <a:lnSpc>
                <a:spcPct val="138007"/>
              </a:lnSpc>
              <a:spcBef>
                <a:spcPts val="0"/>
              </a:spcBef>
              <a:spcAft>
                <a:spcPts val="0"/>
              </a:spcAft>
              <a:buClr>
                <a:schemeClr val="dk1"/>
              </a:buClr>
              <a:buSzPts val="600"/>
              <a:buFont typeface="Arial"/>
              <a:buNone/>
            </a:pPr>
            <a:r>
              <a:rPr b="1" lang="en-US" sz="3600">
                <a:solidFill>
                  <a:srgbClr val="FFFFFF"/>
                </a:solidFill>
                <a:latin typeface="Oswald"/>
                <a:ea typeface="Oswald"/>
                <a:cs typeface="Oswald"/>
                <a:sym typeface="Oswald"/>
              </a:rPr>
              <a:t>CONTROLLER DESIGN </a:t>
            </a:r>
            <a:endParaRPr b="1" sz="3600">
              <a:solidFill>
                <a:srgbClr val="FFFFFF"/>
              </a:solidFill>
              <a:latin typeface="Oswald"/>
              <a:ea typeface="Oswald"/>
              <a:cs typeface="Oswald"/>
              <a:sym typeface="Oswald"/>
            </a:endParaRPr>
          </a:p>
        </p:txBody>
      </p:sp>
      <p:sp>
        <p:nvSpPr>
          <p:cNvPr id="243" name="Google Shape;243;g2e5349b7fe2_0_42"/>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244" name="Google Shape;244;g2e5349b7fe2_0_42"/>
          <p:cNvSpPr txBox="1"/>
          <p:nvPr/>
        </p:nvSpPr>
        <p:spPr>
          <a:xfrm>
            <a:off x="1845525" y="636337"/>
            <a:ext cx="5453100" cy="4926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200"/>
              <a:buFont typeface="Arial"/>
              <a:buNone/>
            </a:pPr>
            <a:r>
              <a:rPr lang="en-US" sz="3200">
                <a:solidFill>
                  <a:srgbClr val="FFFFFF"/>
                </a:solidFill>
                <a:latin typeface="Oswald"/>
                <a:ea typeface="Oswald"/>
                <a:cs typeface="Oswald"/>
                <a:sym typeface="Oswald"/>
              </a:rPr>
              <a:t>Impedance Controller </a:t>
            </a:r>
            <a:endParaRPr b="0" i="0" sz="3100" u="none" cap="none" strike="noStrike">
              <a:solidFill>
                <a:srgbClr val="000000"/>
              </a:solidFill>
              <a:latin typeface="Arial"/>
              <a:ea typeface="Arial"/>
              <a:cs typeface="Arial"/>
              <a:sym typeface="Arial"/>
            </a:endParaRPr>
          </a:p>
        </p:txBody>
      </p:sp>
      <p:sp>
        <p:nvSpPr>
          <p:cNvPr id="245" name="Google Shape;245;g2e5349b7fe2_0_42"/>
          <p:cNvSpPr txBox="1"/>
          <p:nvPr/>
        </p:nvSpPr>
        <p:spPr>
          <a:xfrm>
            <a:off x="3084150" y="1565802"/>
            <a:ext cx="5673300" cy="3564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DM Sans"/>
              <a:buChar char="●"/>
            </a:pPr>
            <a:r>
              <a:rPr lang="en-US" sz="1600">
                <a:solidFill>
                  <a:schemeClr val="dk1"/>
                </a:solidFill>
                <a:latin typeface="DM Sans"/>
                <a:ea typeface="DM Sans"/>
                <a:cs typeface="DM Sans"/>
                <a:sym typeface="DM Sans"/>
              </a:rPr>
              <a:t>Our controller </a:t>
            </a:r>
            <a:r>
              <a:rPr lang="en-US" sz="1600">
                <a:solidFill>
                  <a:schemeClr val="dk1"/>
                </a:solidFill>
                <a:latin typeface="DM Sans"/>
                <a:ea typeface="DM Sans"/>
                <a:cs typeface="DM Sans"/>
                <a:sym typeface="DM Sans"/>
              </a:rPr>
              <a:t>choice</a:t>
            </a:r>
            <a:r>
              <a:rPr lang="en-US" sz="1600">
                <a:solidFill>
                  <a:schemeClr val="dk1"/>
                </a:solidFill>
                <a:latin typeface="DM Sans"/>
                <a:ea typeface="DM Sans"/>
                <a:cs typeface="DM Sans"/>
                <a:sym typeface="DM Sans"/>
              </a:rPr>
              <a:t> was an </a:t>
            </a:r>
            <a:r>
              <a:rPr lang="en-US" sz="1600">
                <a:solidFill>
                  <a:schemeClr val="dk1"/>
                </a:solidFill>
                <a:latin typeface="DM Sans"/>
                <a:ea typeface="DM Sans"/>
                <a:cs typeface="DM Sans"/>
                <a:sym typeface="DM Sans"/>
              </a:rPr>
              <a:t>impedance</a:t>
            </a:r>
            <a:r>
              <a:rPr lang="en-US" sz="1600">
                <a:solidFill>
                  <a:schemeClr val="dk1"/>
                </a:solidFill>
                <a:latin typeface="DM Sans"/>
                <a:ea typeface="DM Sans"/>
                <a:cs typeface="DM Sans"/>
                <a:sym typeface="DM Sans"/>
              </a:rPr>
              <a:t> </a:t>
            </a:r>
            <a:r>
              <a:rPr lang="en-US" sz="1600">
                <a:solidFill>
                  <a:schemeClr val="dk1"/>
                </a:solidFill>
                <a:latin typeface="DM Sans"/>
                <a:ea typeface="DM Sans"/>
                <a:cs typeface="DM Sans"/>
                <a:sym typeface="DM Sans"/>
              </a:rPr>
              <a:t>controller</a:t>
            </a:r>
            <a:r>
              <a:rPr lang="en-US" sz="1600">
                <a:solidFill>
                  <a:schemeClr val="dk1"/>
                </a:solidFill>
                <a:latin typeface="DM Sans"/>
                <a:ea typeface="DM Sans"/>
                <a:cs typeface="DM Sans"/>
                <a:sym typeface="DM Sans"/>
              </a:rPr>
              <a:t> with the </a:t>
            </a:r>
            <a:r>
              <a:rPr lang="en-US" sz="1600">
                <a:solidFill>
                  <a:schemeClr val="dk1"/>
                </a:solidFill>
                <a:latin typeface="DM Sans"/>
                <a:ea typeface="DM Sans"/>
                <a:cs typeface="DM Sans"/>
                <a:sym typeface="DM Sans"/>
              </a:rPr>
              <a:t>assumption</a:t>
            </a:r>
            <a:r>
              <a:rPr lang="en-US" sz="1600">
                <a:solidFill>
                  <a:schemeClr val="dk1"/>
                </a:solidFill>
                <a:latin typeface="DM Sans"/>
                <a:ea typeface="DM Sans"/>
                <a:cs typeface="DM Sans"/>
                <a:sym typeface="DM Sans"/>
              </a:rPr>
              <a:t> of a wrist sensors as well as </a:t>
            </a:r>
            <a:r>
              <a:rPr lang="en-US" sz="1600">
                <a:solidFill>
                  <a:schemeClr val="dk1"/>
                </a:solidFill>
                <a:latin typeface="DM Sans"/>
                <a:ea typeface="DM Sans"/>
                <a:cs typeface="DM Sans"/>
                <a:sym typeface="DM Sans"/>
              </a:rPr>
              <a:t>orientation feedback</a:t>
            </a:r>
            <a:endParaRPr sz="1600">
              <a:solidFill>
                <a:schemeClr val="dk1"/>
              </a:solidFill>
              <a:latin typeface="DM Sans"/>
              <a:ea typeface="DM Sans"/>
              <a:cs typeface="DM Sans"/>
              <a:sym typeface="DM Sans"/>
            </a:endParaRPr>
          </a:p>
          <a:p>
            <a:pPr indent="-330200" lvl="1" marL="914400" rtl="0" algn="l">
              <a:spcBef>
                <a:spcPts val="0"/>
              </a:spcBef>
              <a:spcAft>
                <a:spcPts val="0"/>
              </a:spcAft>
              <a:buClr>
                <a:schemeClr val="dk1"/>
              </a:buClr>
              <a:buSzPts val="1600"/>
              <a:buFont typeface="DM Sans"/>
              <a:buChar char="○"/>
            </a:pPr>
            <a:r>
              <a:rPr lang="en-US" sz="1600">
                <a:solidFill>
                  <a:schemeClr val="dk1"/>
                </a:solidFill>
                <a:latin typeface="DM Sans"/>
                <a:ea typeface="DM Sans"/>
                <a:cs typeface="DM Sans"/>
                <a:sym typeface="DM Sans"/>
              </a:rPr>
              <a:t>This allowed the output of the impedance </a:t>
            </a:r>
            <a:r>
              <a:rPr lang="en-US" sz="1600">
                <a:solidFill>
                  <a:schemeClr val="dk1"/>
                </a:solidFill>
                <a:latin typeface="DM Sans"/>
                <a:ea typeface="DM Sans"/>
                <a:cs typeface="DM Sans"/>
                <a:sym typeface="DM Sans"/>
              </a:rPr>
              <a:t>controller </a:t>
            </a:r>
            <a:r>
              <a:rPr lang="en-US" sz="1600">
                <a:solidFill>
                  <a:schemeClr val="dk1"/>
                </a:solidFill>
                <a:latin typeface="DM Sans"/>
                <a:ea typeface="DM Sans"/>
                <a:cs typeface="DM Sans"/>
                <a:sym typeface="DM Sans"/>
              </a:rPr>
              <a:t>to be directly equal to desired angular acceleration</a:t>
            </a:r>
            <a:endParaRPr sz="1600">
              <a:solidFill>
                <a:schemeClr val="dk1"/>
              </a:solidFill>
              <a:latin typeface="DM Sans"/>
              <a:ea typeface="DM Sans"/>
              <a:cs typeface="DM Sans"/>
              <a:sym typeface="DM Sans"/>
            </a:endParaRPr>
          </a:p>
          <a:p>
            <a:pPr indent="-330200" lvl="1" marL="914400" rtl="0" algn="l">
              <a:spcBef>
                <a:spcPts val="0"/>
              </a:spcBef>
              <a:spcAft>
                <a:spcPts val="0"/>
              </a:spcAft>
              <a:buClr>
                <a:schemeClr val="dk1"/>
              </a:buClr>
              <a:buSzPts val="1600"/>
              <a:buFont typeface="DM Sans"/>
              <a:buChar char="○"/>
            </a:pPr>
            <a:r>
              <a:rPr lang="en-US" sz="1600">
                <a:solidFill>
                  <a:schemeClr val="dk1"/>
                </a:solidFill>
                <a:latin typeface="DM Sans"/>
                <a:ea typeface="DM Sans"/>
                <a:cs typeface="DM Sans"/>
                <a:sym typeface="DM Sans"/>
              </a:rPr>
              <a:t>The inverse dynamics was computed by the </a:t>
            </a:r>
            <a:r>
              <a:rPr lang="en-US" sz="1600">
                <a:solidFill>
                  <a:schemeClr val="dk1"/>
                </a:solidFill>
                <a:latin typeface="DM Sans"/>
                <a:ea typeface="DM Sans"/>
                <a:cs typeface="DM Sans"/>
                <a:sym typeface="DM Sans"/>
              </a:rPr>
              <a:t>in</a:t>
            </a:r>
            <a:r>
              <a:rPr lang="en-US" sz="1600">
                <a:solidFill>
                  <a:schemeClr val="dk1"/>
                </a:solidFill>
                <a:latin typeface="DM Sans"/>
                <a:ea typeface="DM Sans"/>
                <a:cs typeface="DM Sans"/>
                <a:sym typeface="DM Sans"/>
              </a:rPr>
              <a:t> built inverse dynamics module in PyDrake</a:t>
            </a:r>
            <a:endParaRPr sz="1600">
              <a:solidFill>
                <a:schemeClr val="dk1"/>
              </a:solidFill>
              <a:latin typeface="DM Sans"/>
              <a:ea typeface="DM Sans"/>
              <a:cs typeface="DM Sans"/>
              <a:sym typeface="DM Sans"/>
            </a:endParaRPr>
          </a:p>
          <a:p>
            <a:pPr indent="-330200" lvl="0" marL="457200" rtl="0" algn="l">
              <a:spcBef>
                <a:spcPts val="0"/>
              </a:spcBef>
              <a:spcAft>
                <a:spcPts val="0"/>
              </a:spcAft>
              <a:buClr>
                <a:schemeClr val="dk1"/>
              </a:buClr>
              <a:buSzPts val="1600"/>
              <a:buFont typeface="DM Sans"/>
              <a:buChar char="●"/>
            </a:pPr>
            <a:r>
              <a:rPr lang="en-US" sz="1600">
                <a:solidFill>
                  <a:schemeClr val="dk1"/>
                </a:solidFill>
                <a:latin typeface="DM Sans"/>
                <a:ea typeface="DM Sans"/>
                <a:cs typeface="DM Sans"/>
                <a:sym typeface="DM Sans"/>
              </a:rPr>
              <a:t>With these assumptions, we get the following equation for the desired acceleration</a:t>
            </a:r>
            <a:endParaRPr sz="16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id="246" name="Google Shape;246;g2e5349b7fe2_0_42"/>
          <p:cNvPicPr preferRelativeResize="0"/>
          <p:nvPr/>
        </p:nvPicPr>
        <p:blipFill>
          <a:blip r:embed="rId4">
            <a:alphaModFix/>
          </a:blip>
          <a:stretch>
            <a:fillRect/>
          </a:stretch>
        </p:blipFill>
        <p:spPr>
          <a:xfrm>
            <a:off x="3487450" y="4273288"/>
            <a:ext cx="5270000" cy="412100"/>
          </a:xfrm>
          <a:prstGeom prst="rect">
            <a:avLst/>
          </a:prstGeom>
          <a:noFill/>
          <a:ln>
            <a:noFill/>
          </a:ln>
        </p:spPr>
      </p:pic>
      <p:sp>
        <p:nvSpPr>
          <p:cNvPr id="247" name="Google Shape;247;g2e5349b7fe2_0_42"/>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9</a:t>
            </a:r>
            <a:endParaRPr sz="800">
              <a:latin typeface="EB Garamond"/>
              <a:ea typeface="EB Garamond"/>
              <a:cs typeface="EB Garamond"/>
              <a:sym typeface="EB Garamond"/>
            </a:endParaRPr>
          </a:p>
        </p:txBody>
      </p:sp>
      <p:pic>
        <p:nvPicPr>
          <p:cNvPr id="248" name="Google Shape;248;g2e5349b7fe2_0_42"/>
          <p:cNvPicPr preferRelativeResize="0"/>
          <p:nvPr/>
        </p:nvPicPr>
        <p:blipFill>
          <a:blip r:embed="rId5">
            <a:alphaModFix/>
          </a:blip>
          <a:stretch>
            <a:fillRect/>
          </a:stretch>
        </p:blipFill>
        <p:spPr>
          <a:xfrm>
            <a:off x="113525" y="1316626"/>
            <a:ext cx="2870520" cy="3907749"/>
          </a:xfrm>
          <a:prstGeom prst="rect">
            <a:avLst/>
          </a:prstGeom>
          <a:noFill/>
          <a:ln>
            <a:noFill/>
          </a:ln>
        </p:spPr>
      </p:pic>
      <p:sp>
        <p:nvSpPr>
          <p:cNvPr id="249" name="Google Shape;249;g2e5349b7fe2_0_42"/>
          <p:cNvSpPr txBox="1"/>
          <p:nvPr/>
        </p:nvSpPr>
        <p:spPr>
          <a:xfrm>
            <a:off x="292300" y="4831650"/>
            <a:ext cx="3124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chemeClr val="dk1"/>
                </a:solidFill>
                <a:latin typeface="EB Garamond"/>
                <a:ea typeface="EB Garamond"/>
                <a:cs typeface="EB Garamond"/>
                <a:sym typeface="EB Garamond"/>
              </a:rPr>
              <a:t>Fig 9: </a:t>
            </a:r>
            <a:r>
              <a:rPr b="1" lang="en-US" sz="1000">
                <a:solidFill>
                  <a:schemeClr val="dk1"/>
                </a:solidFill>
                <a:latin typeface="EB Garamond"/>
                <a:ea typeface="EB Garamond"/>
                <a:cs typeface="EB Garamond"/>
                <a:sym typeface="EB Garamond"/>
              </a:rPr>
              <a:t>Impedance</a:t>
            </a:r>
            <a:r>
              <a:rPr b="1" lang="en-US" sz="1000">
                <a:solidFill>
                  <a:schemeClr val="dk1"/>
                </a:solidFill>
                <a:latin typeface="EB Garamond"/>
                <a:ea typeface="EB Garamond"/>
                <a:cs typeface="EB Garamond"/>
                <a:sym typeface="EB Garamond"/>
              </a:rPr>
              <a:t> Controller High Level Design</a:t>
            </a:r>
            <a:endParaRPr b="1" sz="1000">
              <a:solidFill>
                <a:schemeClr val="dk1"/>
              </a:solidFill>
              <a:latin typeface="EB Garamond"/>
              <a:ea typeface="EB Garamond"/>
              <a:cs typeface="EB Garamond"/>
              <a:sym typeface="EB Garamo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grpSp>
        <p:nvGrpSpPr>
          <p:cNvPr id="254" name="Google Shape;254;g2e4ecd4405b_0_135"/>
          <p:cNvGrpSpPr/>
          <p:nvPr/>
        </p:nvGrpSpPr>
        <p:grpSpPr>
          <a:xfrm>
            <a:off x="0" y="-36164"/>
            <a:ext cx="9144300" cy="1278131"/>
            <a:chOff x="0" y="-19050"/>
            <a:chExt cx="4816592" cy="831900"/>
          </a:xfrm>
        </p:grpSpPr>
        <p:sp>
          <p:nvSpPr>
            <p:cNvPr id="255" name="Google Shape;255;g2e4ecd4405b_0_135"/>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256" name="Google Shape;256;g2e4ecd4405b_0_135"/>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57" name="Google Shape;257;g2e4ecd4405b_0_135"/>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258" name="Google Shape;258;g2e4ecd4405b_0_135"/>
          <p:cNvSpPr txBox="1"/>
          <p:nvPr/>
        </p:nvSpPr>
        <p:spPr>
          <a:xfrm>
            <a:off x="1845525" y="141450"/>
            <a:ext cx="5453100" cy="5541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600"/>
              <a:buFont typeface="Arial"/>
              <a:buNone/>
            </a:pPr>
            <a:r>
              <a:rPr b="1" lang="en-US" sz="3600">
                <a:solidFill>
                  <a:srgbClr val="FFFFFF"/>
                </a:solidFill>
                <a:latin typeface="Oswald"/>
                <a:ea typeface="Oswald"/>
                <a:cs typeface="Oswald"/>
                <a:sym typeface="Oswald"/>
              </a:rPr>
              <a:t>METHODS</a:t>
            </a:r>
            <a:endParaRPr b="0" i="0" sz="300" u="none" cap="none" strike="noStrike">
              <a:solidFill>
                <a:srgbClr val="000000"/>
              </a:solidFill>
              <a:latin typeface="Arial"/>
              <a:ea typeface="Arial"/>
              <a:cs typeface="Arial"/>
              <a:sym typeface="Arial"/>
            </a:endParaRPr>
          </a:p>
        </p:txBody>
      </p:sp>
      <p:sp>
        <p:nvSpPr>
          <p:cNvPr id="259" name="Google Shape;259;g2e4ecd4405b_0_135"/>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260" name="Google Shape;260;g2e4ecd4405b_0_135"/>
          <p:cNvSpPr txBox="1"/>
          <p:nvPr/>
        </p:nvSpPr>
        <p:spPr>
          <a:xfrm>
            <a:off x="1845525" y="636337"/>
            <a:ext cx="5453100" cy="4926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200"/>
              <a:buFont typeface="Arial"/>
              <a:buNone/>
            </a:pPr>
            <a:r>
              <a:rPr lang="en-US" sz="3200">
                <a:solidFill>
                  <a:srgbClr val="FFFFFF"/>
                </a:solidFill>
                <a:latin typeface="Oswald"/>
                <a:ea typeface="Oswald"/>
                <a:cs typeface="Oswald"/>
                <a:sym typeface="Oswald"/>
              </a:rPr>
              <a:t>Simulation Set Up</a:t>
            </a:r>
            <a:endParaRPr b="0" i="0" sz="3100" u="none" cap="none" strike="noStrike">
              <a:solidFill>
                <a:srgbClr val="000000"/>
              </a:solidFill>
              <a:latin typeface="Arial"/>
              <a:ea typeface="Arial"/>
              <a:cs typeface="Arial"/>
              <a:sym typeface="Arial"/>
            </a:endParaRPr>
          </a:p>
        </p:txBody>
      </p:sp>
      <p:sp>
        <p:nvSpPr>
          <p:cNvPr id="261" name="Google Shape;261;g2e4ecd4405b_0_135"/>
          <p:cNvSpPr txBox="1"/>
          <p:nvPr/>
        </p:nvSpPr>
        <p:spPr>
          <a:xfrm>
            <a:off x="273600" y="1239325"/>
            <a:ext cx="4024800" cy="42741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Clr>
                <a:schemeClr val="dk1"/>
              </a:buClr>
              <a:buSzPts val="600"/>
              <a:buFont typeface="Arial"/>
              <a:buNone/>
            </a:pPr>
            <a:r>
              <a:rPr lang="en-US" sz="1500">
                <a:latin typeface="DM Sans"/>
                <a:ea typeface="DM Sans"/>
                <a:cs typeface="DM Sans"/>
                <a:sym typeface="DM Sans"/>
              </a:rPr>
              <a:t>The Controller: </a:t>
            </a:r>
            <a:endParaRPr sz="1500">
              <a:latin typeface="DM Sans"/>
              <a:ea typeface="DM Sans"/>
              <a:cs typeface="DM Sans"/>
              <a:sym typeface="DM Sans"/>
            </a:endParaRPr>
          </a:p>
          <a:p>
            <a:pPr indent="-323850" lvl="0" marL="457200" rtl="0" algn="l">
              <a:spcBef>
                <a:spcPts val="0"/>
              </a:spcBef>
              <a:spcAft>
                <a:spcPts val="0"/>
              </a:spcAft>
              <a:buSzPts val="1500"/>
              <a:buFont typeface="DM Sans"/>
              <a:buChar char="●"/>
            </a:pPr>
            <a:r>
              <a:rPr lang="en-US" sz="1500">
                <a:latin typeface="DM Sans"/>
                <a:ea typeface="DM Sans"/>
                <a:cs typeface="DM Sans"/>
                <a:sym typeface="DM Sans"/>
              </a:rPr>
              <a:t>Implemented</a:t>
            </a:r>
            <a:r>
              <a:rPr lang="en-US" sz="1500">
                <a:latin typeface="DM Sans"/>
                <a:ea typeface="DM Sans"/>
                <a:cs typeface="DM Sans"/>
                <a:sym typeface="DM Sans"/>
              </a:rPr>
              <a:t> in Pydrake using the Diagram Builder,Leaf System, and Contact Model</a:t>
            </a:r>
            <a:endParaRPr sz="1500">
              <a:latin typeface="DM Sans"/>
              <a:ea typeface="DM Sans"/>
              <a:cs typeface="DM Sans"/>
              <a:sym typeface="DM Sans"/>
            </a:endParaRPr>
          </a:p>
          <a:p>
            <a:pPr indent="0" lvl="0" marL="0" rtl="0" algn="l">
              <a:spcBef>
                <a:spcPts val="1000"/>
              </a:spcBef>
              <a:spcAft>
                <a:spcPts val="0"/>
              </a:spcAft>
              <a:buClr>
                <a:schemeClr val="dk1"/>
              </a:buClr>
              <a:buSzPts val="600"/>
              <a:buFont typeface="Arial"/>
              <a:buNone/>
            </a:pPr>
            <a:r>
              <a:rPr lang="en-US" sz="1500">
                <a:latin typeface="DM Sans"/>
                <a:ea typeface="DM Sans"/>
                <a:cs typeface="DM Sans"/>
                <a:sym typeface="DM Sans"/>
              </a:rPr>
              <a:t>The Robot:</a:t>
            </a:r>
            <a:endParaRPr sz="1500">
              <a:latin typeface="DM Sans"/>
              <a:ea typeface="DM Sans"/>
              <a:cs typeface="DM Sans"/>
              <a:sym typeface="DM Sans"/>
            </a:endParaRPr>
          </a:p>
          <a:p>
            <a:pPr indent="-323850" lvl="0" marL="457200" rtl="0" algn="l">
              <a:spcBef>
                <a:spcPts val="0"/>
              </a:spcBef>
              <a:spcAft>
                <a:spcPts val="0"/>
              </a:spcAft>
              <a:buSzPts val="1500"/>
              <a:buFont typeface="DM Sans"/>
              <a:buChar char="●"/>
            </a:pPr>
            <a:r>
              <a:rPr lang="en-US" sz="1500">
                <a:latin typeface="DM Sans"/>
                <a:ea typeface="DM Sans"/>
                <a:cs typeface="DM Sans"/>
                <a:sym typeface="DM Sans"/>
              </a:rPr>
              <a:t>UR5e robot arm URDF from </a:t>
            </a:r>
            <a:r>
              <a:rPr lang="en-US" sz="1500" u="sng">
                <a:solidFill>
                  <a:schemeClr val="hlink"/>
                </a:solidFill>
                <a:latin typeface="DM Sans"/>
                <a:ea typeface="DM Sans"/>
                <a:cs typeface="DM Sans"/>
                <a:sym typeface="DM Sans"/>
                <a:hlinkClick r:id="rId4"/>
              </a:rPr>
              <a:t>Github database</a:t>
            </a:r>
            <a:r>
              <a:rPr lang="en-US" sz="1500">
                <a:latin typeface="DM Sans"/>
                <a:ea typeface="DM Sans"/>
                <a:cs typeface="DM Sans"/>
                <a:sym typeface="DM Sans"/>
              </a:rPr>
              <a:t> [3]</a:t>
            </a:r>
            <a:endParaRPr sz="1500">
              <a:latin typeface="DM Sans"/>
              <a:ea typeface="DM Sans"/>
              <a:cs typeface="DM Sans"/>
              <a:sym typeface="DM Sans"/>
            </a:endParaRPr>
          </a:p>
          <a:p>
            <a:pPr indent="0" lvl="0" marL="0" rtl="0" algn="l">
              <a:spcBef>
                <a:spcPts val="1000"/>
              </a:spcBef>
              <a:spcAft>
                <a:spcPts val="0"/>
              </a:spcAft>
              <a:buClr>
                <a:schemeClr val="dk1"/>
              </a:buClr>
              <a:buSzPts val="600"/>
              <a:buFont typeface="Arial"/>
              <a:buNone/>
            </a:pPr>
            <a:r>
              <a:rPr lang="en-US" sz="1500">
                <a:latin typeface="DM Sans"/>
                <a:ea typeface="DM Sans"/>
                <a:cs typeface="DM Sans"/>
                <a:sym typeface="DM Sans"/>
              </a:rPr>
              <a:t>The </a:t>
            </a:r>
            <a:r>
              <a:rPr lang="en-US" sz="1500">
                <a:latin typeface="DM Sans"/>
                <a:ea typeface="DM Sans"/>
                <a:cs typeface="DM Sans"/>
                <a:sym typeface="DM Sans"/>
              </a:rPr>
              <a:t>Environment</a:t>
            </a:r>
            <a:r>
              <a:rPr lang="en-US" sz="1500">
                <a:latin typeface="DM Sans"/>
                <a:ea typeface="DM Sans"/>
                <a:cs typeface="DM Sans"/>
                <a:sym typeface="DM Sans"/>
              </a:rPr>
              <a:t>: </a:t>
            </a:r>
            <a:endParaRPr sz="1500">
              <a:latin typeface="DM Sans"/>
              <a:ea typeface="DM Sans"/>
              <a:cs typeface="DM Sans"/>
              <a:sym typeface="DM Sans"/>
            </a:endParaRPr>
          </a:p>
          <a:p>
            <a:pPr indent="-323850" lvl="0" marL="457200" rtl="0" algn="l">
              <a:spcBef>
                <a:spcPts val="0"/>
              </a:spcBef>
              <a:spcAft>
                <a:spcPts val="0"/>
              </a:spcAft>
              <a:buSzPts val="1500"/>
              <a:buFont typeface="DM Sans"/>
              <a:buChar char="●"/>
            </a:pPr>
            <a:r>
              <a:rPr lang="en-US" sz="1500">
                <a:latin typeface="DM Sans"/>
                <a:ea typeface="DM Sans"/>
                <a:cs typeface="DM Sans"/>
                <a:sym typeface="DM Sans"/>
              </a:rPr>
              <a:t>The roller is assumed to be rigid and the mold is assumed to be </a:t>
            </a:r>
            <a:r>
              <a:rPr lang="en-US" sz="1500">
                <a:latin typeface="DM Sans"/>
                <a:ea typeface="DM Sans"/>
                <a:cs typeface="DM Sans"/>
                <a:sym typeface="DM Sans"/>
              </a:rPr>
              <a:t>compliant</a:t>
            </a:r>
            <a:r>
              <a:rPr lang="en-US" sz="1500">
                <a:latin typeface="DM Sans"/>
                <a:ea typeface="DM Sans"/>
                <a:cs typeface="DM Sans"/>
                <a:sym typeface="DM Sans"/>
              </a:rPr>
              <a:t> in the hydrostatic force model</a:t>
            </a:r>
            <a:endParaRPr sz="1500">
              <a:latin typeface="DM Sans"/>
              <a:ea typeface="DM Sans"/>
              <a:cs typeface="DM Sans"/>
              <a:sym typeface="DM Sans"/>
            </a:endParaRPr>
          </a:p>
          <a:p>
            <a:pPr indent="-323850" lvl="0" marL="457200" rtl="0" algn="l">
              <a:spcBef>
                <a:spcPts val="0"/>
              </a:spcBef>
              <a:spcAft>
                <a:spcPts val="0"/>
              </a:spcAft>
              <a:buSzPts val="1500"/>
              <a:buFont typeface="DM Sans"/>
              <a:buChar char="●"/>
            </a:pPr>
            <a:r>
              <a:rPr lang="en-US" sz="1500">
                <a:latin typeface="DM Sans"/>
                <a:ea typeface="DM Sans"/>
                <a:cs typeface="DM Sans"/>
                <a:sym typeface="DM Sans"/>
              </a:rPr>
              <a:t>The robot is fixed to the world frame</a:t>
            </a:r>
            <a:endParaRPr sz="1500">
              <a:latin typeface="DM Sans"/>
              <a:ea typeface="DM Sans"/>
              <a:cs typeface="DM Sans"/>
              <a:sym typeface="DM Sans"/>
            </a:endParaRPr>
          </a:p>
          <a:p>
            <a:pPr indent="-323850" lvl="0" marL="457200" rtl="0" algn="l">
              <a:spcBef>
                <a:spcPts val="0"/>
              </a:spcBef>
              <a:spcAft>
                <a:spcPts val="0"/>
              </a:spcAft>
              <a:buSzPts val="1500"/>
              <a:buFont typeface="DM Sans"/>
              <a:buChar char="●"/>
            </a:pPr>
            <a:r>
              <a:rPr lang="en-US" sz="1500">
                <a:latin typeface="DM Sans"/>
                <a:ea typeface="DM Sans"/>
                <a:cs typeface="DM Sans"/>
                <a:sym typeface="DM Sans"/>
              </a:rPr>
              <a:t>The mold can be moved relative to the world frame</a:t>
            </a:r>
            <a:endParaRPr sz="1500">
              <a:latin typeface="DM Sans"/>
              <a:ea typeface="DM Sans"/>
              <a:cs typeface="DM Sans"/>
              <a:sym typeface="DM Sans"/>
            </a:endParaRPr>
          </a:p>
          <a:p>
            <a:pPr indent="-323850" lvl="0" marL="457200" rtl="0" algn="l">
              <a:spcBef>
                <a:spcPts val="0"/>
              </a:spcBef>
              <a:spcAft>
                <a:spcPts val="0"/>
              </a:spcAft>
              <a:buSzPts val="1500"/>
              <a:buFont typeface="DM Sans"/>
              <a:buChar char="●"/>
            </a:pPr>
            <a:r>
              <a:rPr lang="en-US" sz="1500">
                <a:latin typeface="DM Sans"/>
                <a:ea typeface="DM Sans"/>
                <a:cs typeface="DM Sans"/>
                <a:sym typeface="DM Sans"/>
              </a:rPr>
              <a:t>Force feedback is </a:t>
            </a:r>
            <a:r>
              <a:rPr lang="en-US" sz="1500">
                <a:latin typeface="DM Sans"/>
                <a:ea typeface="DM Sans"/>
                <a:cs typeface="DM Sans"/>
                <a:sym typeface="DM Sans"/>
              </a:rPr>
              <a:t>received</a:t>
            </a:r>
            <a:r>
              <a:rPr lang="en-US" sz="1500">
                <a:latin typeface="DM Sans"/>
                <a:ea typeface="DM Sans"/>
                <a:cs typeface="DM Sans"/>
                <a:sym typeface="DM Sans"/>
              </a:rPr>
              <a:t> from a Contact Model baked into the Drake model</a:t>
            </a:r>
            <a:endParaRPr sz="1500">
              <a:latin typeface="DM Sans"/>
              <a:ea typeface="DM Sans"/>
              <a:cs typeface="DM Sans"/>
              <a:sym typeface="DM Sans"/>
            </a:endParaRPr>
          </a:p>
        </p:txBody>
      </p:sp>
      <p:pic>
        <p:nvPicPr>
          <p:cNvPr id="262" name="Google Shape;262;g2e4ecd4405b_0_135"/>
          <p:cNvPicPr preferRelativeResize="0"/>
          <p:nvPr/>
        </p:nvPicPr>
        <p:blipFill>
          <a:blip r:embed="rId5">
            <a:alphaModFix/>
          </a:blip>
          <a:stretch>
            <a:fillRect/>
          </a:stretch>
        </p:blipFill>
        <p:spPr>
          <a:xfrm>
            <a:off x="4565875" y="1377575"/>
            <a:ext cx="4464250" cy="2598786"/>
          </a:xfrm>
          <a:prstGeom prst="rect">
            <a:avLst/>
          </a:prstGeom>
          <a:noFill/>
          <a:ln>
            <a:noFill/>
          </a:ln>
        </p:spPr>
      </p:pic>
      <p:sp>
        <p:nvSpPr>
          <p:cNvPr id="263" name="Google Shape;263;g2e4ecd4405b_0_135"/>
          <p:cNvSpPr txBox="1"/>
          <p:nvPr/>
        </p:nvSpPr>
        <p:spPr>
          <a:xfrm>
            <a:off x="4606650" y="4950550"/>
            <a:ext cx="4382700" cy="283200"/>
          </a:xfrm>
          <a:prstGeom prst="rect">
            <a:avLst/>
          </a:prstGeom>
          <a:noFill/>
          <a:ln>
            <a:noFill/>
          </a:ln>
        </p:spPr>
        <p:txBody>
          <a:bodyPr anchorCtr="0" anchor="t" bIns="91425" lIns="91425" spcFirstLastPara="1" rIns="91425" wrap="square" tIns="91425">
            <a:spAutoFit/>
          </a:bodyPr>
          <a:lstStyle/>
          <a:p>
            <a:pPr indent="-279400" lvl="0" marL="457200" rtl="0" algn="l">
              <a:lnSpc>
                <a:spcPct val="80000"/>
              </a:lnSpc>
              <a:spcBef>
                <a:spcPts val="0"/>
              </a:spcBef>
              <a:spcAft>
                <a:spcPts val="0"/>
              </a:spcAft>
              <a:buClr>
                <a:srgbClr val="000000"/>
              </a:buClr>
              <a:buSzPts val="800"/>
              <a:buFont typeface="EB Garamond"/>
              <a:buAutoNum type="arabicPeriod" startAt="3"/>
            </a:pPr>
            <a:r>
              <a:rPr lang="en-US" sz="800">
                <a:latin typeface="EB Garamond"/>
                <a:ea typeface="EB Garamond"/>
                <a:cs typeface="EB Garamond"/>
                <a:sym typeface="EB Garamond"/>
              </a:rPr>
              <a:t>Daniella1/urdf_files_dataset. (n.d.). GitHub. </a:t>
            </a:r>
            <a:r>
              <a:rPr lang="en-US" sz="800" u="sng">
                <a:solidFill>
                  <a:schemeClr val="hlink"/>
                </a:solidFill>
                <a:latin typeface="EB Garamond"/>
                <a:ea typeface="EB Garamond"/>
                <a:cs typeface="EB Garamond"/>
                <a:sym typeface="EB Garamond"/>
                <a:hlinkClick r:id="rId6"/>
              </a:rPr>
              <a:t>https://github.com/Daniella1/urdf_files_dataset</a:t>
            </a:r>
            <a:endParaRPr sz="800">
              <a:latin typeface="EB Garamond"/>
              <a:ea typeface="EB Garamond"/>
              <a:cs typeface="EB Garamond"/>
              <a:sym typeface="EB Garamond"/>
            </a:endParaRPr>
          </a:p>
        </p:txBody>
      </p:sp>
      <p:sp>
        <p:nvSpPr>
          <p:cNvPr id="264" name="Google Shape;264;g2e4ecd4405b_0_135"/>
          <p:cNvSpPr txBox="1"/>
          <p:nvPr/>
        </p:nvSpPr>
        <p:spPr>
          <a:xfrm>
            <a:off x="4656300" y="3976350"/>
            <a:ext cx="3124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chemeClr val="dk1"/>
                </a:solidFill>
                <a:latin typeface="EB Garamond"/>
                <a:ea typeface="EB Garamond"/>
                <a:cs typeface="EB Garamond"/>
                <a:sym typeface="EB Garamond"/>
              </a:rPr>
              <a:t>Fig 10: </a:t>
            </a:r>
            <a:r>
              <a:rPr b="1" lang="en-US" sz="1000">
                <a:solidFill>
                  <a:schemeClr val="dk1"/>
                </a:solidFill>
                <a:latin typeface="EB Garamond"/>
                <a:ea typeface="EB Garamond"/>
                <a:cs typeface="EB Garamond"/>
                <a:sym typeface="EB Garamond"/>
              </a:rPr>
              <a:t>Environment</a:t>
            </a:r>
            <a:r>
              <a:rPr b="1" lang="en-US" sz="1000">
                <a:solidFill>
                  <a:schemeClr val="dk1"/>
                </a:solidFill>
                <a:latin typeface="EB Garamond"/>
                <a:ea typeface="EB Garamond"/>
                <a:cs typeface="EB Garamond"/>
                <a:sym typeface="EB Garamond"/>
              </a:rPr>
              <a:t> Set Up with the UR5E and Robot Arm</a:t>
            </a:r>
            <a:endParaRPr b="1" sz="1000">
              <a:solidFill>
                <a:schemeClr val="dk1"/>
              </a:solidFill>
              <a:latin typeface="EB Garamond"/>
              <a:ea typeface="EB Garamond"/>
              <a:cs typeface="EB Garamond"/>
              <a:sym typeface="EB Garamond"/>
            </a:endParaRPr>
          </a:p>
        </p:txBody>
      </p:sp>
      <p:sp>
        <p:nvSpPr>
          <p:cNvPr id="265" name="Google Shape;265;g2e4ecd4405b_0_135"/>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10</a:t>
            </a:r>
            <a:endParaRPr sz="800">
              <a:latin typeface="EB Garamond"/>
              <a:ea typeface="EB Garamond"/>
              <a:cs typeface="EB Garamond"/>
              <a:sym typeface="EB Garamo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grpSp>
        <p:nvGrpSpPr>
          <p:cNvPr id="270" name="Google Shape;270;g2e4ecd4405b_0_160"/>
          <p:cNvGrpSpPr/>
          <p:nvPr/>
        </p:nvGrpSpPr>
        <p:grpSpPr>
          <a:xfrm>
            <a:off x="0" y="-36164"/>
            <a:ext cx="9144300" cy="1278131"/>
            <a:chOff x="0" y="-19050"/>
            <a:chExt cx="4816592" cy="831900"/>
          </a:xfrm>
        </p:grpSpPr>
        <p:sp>
          <p:nvSpPr>
            <p:cNvPr id="271" name="Google Shape;271;g2e4ecd4405b_0_160"/>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272" name="Google Shape;272;g2e4ecd4405b_0_160"/>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73" name="Google Shape;273;g2e4ecd4405b_0_160"/>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274" name="Google Shape;274;g2e4ecd4405b_0_160"/>
          <p:cNvSpPr txBox="1"/>
          <p:nvPr/>
        </p:nvSpPr>
        <p:spPr>
          <a:xfrm>
            <a:off x="1845525" y="141450"/>
            <a:ext cx="5453100" cy="554100"/>
          </a:xfrm>
          <a:prstGeom prst="rect">
            <a:avLst/>
          </a:prstGeom>
          <a:noFill/>
          <a:ln>
            <a:noFill/>
          </a:ln>
        </p:spPr>
        <p:txBody>
          <a:bodyPr anchorCtr="0" anchor="t" bIns="0" lIns="0" spcFirstLastPara="1" rIns="0" wrap="square" tIns="0">
            <a:spAutoFit/>
          </a:bodyPr>
          <a:lstStyle/>
          <a:p>
            <a:pPr indent="0" lvl="0" marL="0" rtl="0" algn="ctr">
              <a:lnSpc>
                <a:spcPct val="138007"/>
              </a:lnSpc>
              <a:spcBef>
                <a:spcPts val="0"/>
              </a:spcBef>
              <a:spcAft>
                <a:spcPts val="0"/>
              </a:spcAft>
              <a:buClr>
                <a:schemeClr val="dk1"/>
              </a:buClr>
              <a:buSzPts val="600"/>
              <a:buFont typeface="Arial"/>
              <a:buNone/>
            </a:pPr>
            <a:r>
              <a:rPr b="1" lang="en-US" sz="3600">
                <a:solidFill>
                  <a:srgbClr val="FFFFFF"/>
                </a:solidFill>
                <a:latin typeface="Oswald"/>
                <a:ea typeface="Oswald"/>
                <a:cs typeface="Oswald"/>
                <a:sym typeface="Oswald"/>
              </a:rPr>
              <a:t>RESULTS</a:t>
            </a:r>
            <a:endParaRPr b="1" sz="3600">
              <a:solidFill>
                <a:srgbClr val="FFFFFF"/>
              </a:solidFill>
              <a:latin typeface="Oswald"/>
              <a:ea typeface="Oswald"/>
              <a:cs typeface="Oswald"/>
              <a:sym typeface="Oswald"/>
            </a:endParaRPr>
          </a:p>
        </p:txBody>
      </p:sp>
      <p:sp>
        <p:nvSpPr>
          <p:cNvPr id="275" name="Google Shape;275;g2e4ecd4405b_0_160"/>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276" name="Google Shape;276;g2e4ecd4405b_0_160"/>
          <p:cNvSpPr txBox="1"/>
          <p:nvPr/>
        </p:nvSpPr>
        <p:spPr>
          <a:xfrm>
            <a:off x="1845525" y="636337"/>
            <a:ext cx="5453100" cy="492600"/>
          </a:xfrm>
          <a:prstGeom prst="rect">
            <a:avLst/>
          </a:prstGeom>
          <a:noFill/>
          <a:ln>
            <a:noFill/>
          </a:ln>
        </p:spPr>
        <p:txBody>
          <a:bodyPr anchorCtr="0" anchor="t" bIns="0" lIns="0" spcFirstLastPara="1" rIns="0" wrap="square" tIns="0">
            <a:spAutoFit/>
          </a:bodyPr>
          <a:lstStyle/>
          <a:p>
            <a:pPr indent="0" lvl="0" marL="0" rtl="0" algn="ctr">
              <a:lnSpc>
                <a:spcPct val="138007"/>
              </a:lnSpc>
              <a:spcBef>
                <a:spcPts val="0"/>
              </a:spcBef>
              <a:spcAft>
                <a:spcPts val="0"/>
              </a:spcAft>
              <a:buClr>
                <a:schemeClr val="dk1"/>
              </a:buClr>
              <a:buSzPts val="600"/>
              <a:buFont typeface="Arial"/>
              <a:buNone/>
            </a:pPr>
            <a:r>
              <a:rPr lang="en-US" sz="3200">
                <a:solidFill>
                  <a:srgbClr val="FFFFFF"/>
                </a:solidFill>
                <a:latin typeface="Oswald"/>
                <a:ea typeface="Oswald"/>
                <a:cs typeface="Oswald"/>
                <a:sym typeface="Oswald"/>
              </a:rPr>
              <a:t>Push Test</a:t>
            </a:r>
            <a:endParaRPr sz="3200">
              <a:solidFill>
                <a:srgbClr val="FFFFFF"/>
              </a:solidFill>
              <a:latin typeface="Oswald"/>
              <a:ea typeface="Oswald"/>
              <a:cs typeface="Oswald"/>
              <a:sym typeface="Oswald"/>
            </a:endParaRPr>
          </a:p>
        </p:txBody>
      </p:sp>
      <p:sp>
        <p:nvSpPr>
          <p:cNvPr id="277" name="Google Shape;277;g2e4ecd4405b_0_160"/>
          <p:cNvSpPr txBox="1"/>
          <p:nvPr/>
        </p:nvSpPr>
        <p:spPr>
          <a:xfrm>
            <a:off x="350150" y="1333900"/>
            <a:ext cx="3558900" cy="3755700"/>
          </a:xfrm>
          <a:prstGeom prst="rect">
            <a:avLst/>
          </a:prstGeom>
          <a:noFill/>
          <a:ln>
            <a:noFill/>
          </a:ln>
        </p:spPr>
        <p:txBody>
          <a:bodyPr anchorCtr="0" anchor="t" bIns="45725" lIns="45725" spcFirstLastPara="1" rIns="45725" wrap="square" tIns="45725">
            <a:spAutoFit/>
          </a:bodyPr>
          <a:lstStyle/>
          <a:p>
            <a:pPr indent="-222250" lvl="0" marL="228600" rtl="0" algn="l">
              <a:spcBef>
                <a:spcPts val="0"/>
              </a:spcBef>
              <a:spcAft>
                <a:spcPts val="0"/>
              </a:spcAft>
              <a:buSzPts val="1700"/>
              <a:buFont typeface="DM Sans"/>
              <a:buChar char="●"/>
            </a:pPr>
            <a:r>
              <a:rPr lang="en-US" sz="1700">
                <a:latin typeface="DM Sans"/>
                <a:ea typeface="DM Sans"/>
                <a:cs typeface="DM Sans"/>
                <a:sym typeface="DM Sans"/>
              </a:rPr>
              <a:t>Unfortunately, we’ve been having difficulties with the controller implementation using Drake. </a:t>
            </a:r>
            <a:endParaRPr sz="1700">
              <a:latin typeface="DM Sans"/>
              <a:ea typeface="DM Sans"/>
              <a:cs typeface="DM Sans"/>
              <a:sym typeface="DM Sans"/>
            </a:endParaRPr>
          </a:p>
          <a:p>
            <a:pPr indent="-222250" lvl="0" marL="228600" rtl="0" algn="l">
              <a:spcBef>
                <a:spcPts val="0"/>
              </a:spcBef>
              <a:spcAft>
                <a:spcPts val="0"/>
              </a:spcAft>
              <a:buSzPts val="1700"/>
              <a:buFont typeface="DM Sans"/>
              <a:buChar char="●"/>
            </a:pPr>
            <a:r>
              <a:rPr lang="en-US" sz="1700">
                <a:latin typeface="DM Sans"/>
                <a:ea typeface="DM Sans"/>
                <a:cs typeface="DM Sans"/>
                <a:sym typeface="DM Sans"/>
              </a:rPr>
              <a:t>We were </a:t>
            </a:r>
            <a:r>
              <a:rPr lang="en-US" sz="1700">
                <a:latin typeface="DM Sans"/>
                <a:ea typeface="DM Sans"/>
                <a:cs typeface="DM Sans"/>
                <a:sym typeface="DM Sans"/>
              </a:rPr>
              <a:t>successful in completing a </a:t>
            </a:r>
            <a:r>
              <a:rPr lang="en-US" sz="1700">
                <a:latin typeface="DM Sans"/>
                <a:ea typeface="DM Sans"/>
                <a:cs typeface="DM Sans"/>
                <a:sym typeface="DM Sans"/>
              </a:rPr>
              <a:t>push test with the following gains </a:t>
            </a:r>
            <a:endParaRPr sz="1700">
              <a:latin typeface="DM Sans"/>
              <a:ea typeface="DM Sans"/>
              <a:cs typeface="DM Sans"/>
              <a:sym typeface="DM Sans"/>
            </a:endParaRPr>
          </a:p>
          <a:p>
            <a:pPr indent="0" lvl="0" marL="228600" rtl="0" algn="l">
              <a:spcBef>
                <a:spcPts val="0"/>
              </a:spcBef>
              <a:spcAft>
                <a:spcPts val="0"/>
              </a:spcAft>
              <a:buNone/>
            </a:pPr>
            <a:r>
              <a:t/>
            </a:r>
            <a:endParaRPr sz="1700">
              <a:latin typeface="DM Sans"/>
              <a:ea typeface="DM Sans"/>
              <a:cs typeface="DM Sans"/>
              <a:sym typeface="DM Sans"/>
            </a:endParaRPr>
          </a:p>
          <a:p>
            <a:pPr indent="0" lvl="0" marL="228600" rtl="0" algn="l">
              <a:spcBef>
                <a:spcPts val="0"/>
              </a:spcBef>
              <a:spcAft>
                <a:spcPts val="0"/>
              </a:spcAft>
              <a:buNone/>
            </a:pPr>
            <a:r>
              <a:t/>
            </a:r>
            <a:endParaRPr sz="1700">
              <a:latin typeface="DM Sans"/>
              <a:ea typeface="DM Sans"/>
              <a:cs typeface="DM Sans"/>
              <a:sym typeface="DM Sans"/>
            </a:endParaRPr>
          </a:p>
          <a:p>
            <a:pPr indent="0" lvl="0" marL="228600" rtl="0" algn="l">
              <a:spcBef>
                <a:spcPts val="0"/>
              </a:spcBef>
              <a:spcAft>
                <a:spcPts val="0"/>
              </a:spcAft>
              <a:buNone/>
            </a:pPr>
            <a:r>
              <a:t/>
            </a:r>
            <a:endParaRPr sz="1700">
              <a:latin typeface="DM Sans"/>
              <a:ea typeface="DM Sans"/>
              <a:cs typeface="DM Sans"/>
              <a:sym typeface="DM Sans"/>
            </a:endParaRPr>
          </a:p>
          <a:p>
            <a:pPr indent="0" lvl="0" marL="228600" rtl="0" algn="l">
              <a:spcBef>
                <a:spcPts val="0"/>
              </a:spcBef>
              <a:spcAft>
                <a:spcPts val="0"/>
              </a:spcAft>
              <a:buNone/>
            </a:pPr>
            <a:r>
              <a:t/>
            </a:r>
            <a:endParaRPr sz="1700">
              <a:latin typeface="DM Sans"/>
              <a:ea typeface="DM Sans"/>
              <a:cs typeface="DM Sans"/>
              <a:sym typeface="DM Sans"/>
            </a:endParaRPr>
          </a:p>
          <a:p>
            <a:pPr indent="0" lvl="0" marL="228600" rtl="0" algn="l">
              <a:spcBef>
                <a:spcPts val="0"/>
              </a:spcBef>
              <a:spcAft>
                <a:spcPts val="0"/>
              </a:spcAft>
              <a:buNone/>
            </a:pPr>
            <a:r>
              <a:t/>
            </a:r>
            <a:endParaRPr sz="1700">
              <a:latin typeface="DM Sans"/>
              <a:ea typeface="DM Sans"/>
              <a:cs typeface="DM Sans"/>
              <a:sym typeface="DM Sans"/>
            </a:endParaRPr>
          </a:p>
          <a:p>
            <a:pPr indent="0" lvl="0" marL="228600" rtl="0" algn="l">
              <a:spcBef>
                <a:spcPts val="0"/>
              </a:spcBef>
              <a:spcAft>
                <a:spcPts val="0"/>
              </a:spcAft>
              <a:buNone/>
            </a:pPr>
            <a:r>
              <a:t/>
            </a:r>
            <a:endParaRPr sz="1700">
              <a:latin typeface="DM Sans"/>
              <a:ea typeface="DM Sans"/>
              <a:cs typeface="DM Sans"/>
              <a:sym typeface="DM Sans"/>
            </a:endParaRPr>
          </a:p>
          <a:p>
            <a:pPr indent="-222250" lvl="0" marL="228600" rtl="0" algn="l">
              <a:spcBef>
                <a:spcPts val="0"/>
              </a:spcBef>
              <a:spcAft>
                <a:spcPts val="0"/>
              </a:spcAft>
              <a:buSzPts val="1700"/>
              <a:buFont typeface="DM Sans"/>
              <a:buChar char="●"/>
            </a:pPr>
            <a:r>
              <a:rPr lang="en-US" sz="1700" u="sng">
                <a:solidFill>
                  <a:schemeClr val="hlink"/>
                </a:solidFill>
                <a:latin typeface="DM Sans"/>
                <a:ea typeface="DM Sans"/>
                <a:cs typeface="DM Sans"/>
                <a:sym typeface="DM Sans"/>
                <a:hlinkClick r:id="rId4"/>
              </a:rPr>
              <a:t>Video</a:t>
            </a:r>
            <a:endParaRPr sz="1700">
              <a:latin typeface="DM Sans"/>
              <a:ea typeface="DM Sans"/>
              <a:cs typeface="DM Sans"/>
              <a:sym typeface="DM Sans"/>
            </a:endParaRPr>
          </a:p>
        </p:txBody>
      </p:sp>
      <p:pic>
        <p:nvPicPr>
          <p:cNvPr id="278" name="Google Shape;278;g2e4ecd4405b_0_160"/>
          <p:cNvPicPr preferRelativeResize="0"/>
          <p:nvPr/>
        </p:nvPicPr>
        <p:blipFill>
          <a:blip r:embed="rId5">
            <a:alphaModFix/>
          </a:blip>
          <a:stretch>
            <a:fillRect/>
          </a:stretch>
        </p:blipFill>
        <p:spPr>
          <a:xfrm>
            <a:off x="4671049" y="1583113"/>
            <a:ext cx="3808301" cy="2796736"/>
          </a:xfrm>
          <a:prstGeom prst="rect">
            <a:avLst/>
          </a:prstGeom>
          <a:noFill/>
          <a:ln>
            <a:noFill/>
          </a:ln>
        </p:spPr>
      </p:pic>
      <p:sp>
        <p:nvSpPr>
          <p:cNvPr id="279" name="Google Shape;279;g2e4ecd4405b_0_160"/>
          <p:cNvSpPr txBox="1"/>
          <p:nvPr/>
        </p:nvSpPr>
        <p:spPr>
          <a:xfrm>
            <a:off x="4671050" y="4519050"/>
            <a:ext cx="3421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chemeClr val="dk1"/>
                </a:solidFill>
                <a:latin typeface="EB Garamond"/>
                <a:ea typeface="EB Garamond"/>
                <a:cs typeface="EB Garamond"/>
                <a:sym typeface="EB Garamond"/>
              </a:rPr>
              <a:t>Fig 11: Force Readings from the Roller End Effector  for the push test</a:t>
            </a:r>
            <a:endParaRPr b="1" sz="1000">
              <a:solidFill>
                <a:schemeClr val="dk1"/>
              </a:solidFill>
              <a:latin typeface="EB Garamond"/>
              <a:ea typeface="EB Garamond"/>
              <a:cs typeface="EB Garamond"/>
              <a:sym typeface="EB Garamond"/>
            </a:endParaRPr>
          </a:p>
        </p:txBody>
      </p:sp>
      <p:sp>
        <p:nvSpPr>
          <p:cNvPr id="280" name="Google Shape;280;g2e4ecd4405b_0_160"/>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11</a:t>
            </a:r>
            <a:endParaRPr sz="800">
              <a:latin typeface="EB Garamond"/>
              <a:ea typeface="EB Garamond"/>
              <a:cs typeface="EB Garamond"/>
              <a:sym typeface="EB Garamond"/>
            </a:endParaRPr>
          </a:p>
        </p:txBody>
      </p:sp>
      <p:pic>
        <p:nvPicPr>
          <p:cNvPr id="281" name="Google Shape;281;g2e4ecd4405b_0_160"/>
          <p:cNvPicPr preferRelativeResize="0"/>
          <p:nvPr/>
        </p:nvPicPr>
        <p:blipFill>
          <a:blip r:embed="rId6">
            <a:alphaModFix/>
          </a:blip>
          <a:stretch>
            <a:fillRect/>
          </a:stretch>
        </p:blipFill>
        <p:spPr>
          <a:xfrm>
            <a:off x="350150" y="3238607"/>
            <a:ext cx="3124200" cy="130116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grpSp>
        <p:nvGrpSpPr>
          <p:cNvPr id="286" name="Google Shape;286;g2e4ecd4405b_0_174"/>
          <p:cNvGrpSpPr/>
          <p:nvPr/>
        </p:nvGrpSpPr>
        <p:grpSpPr>
          <a:xfrm>
            <a:off x="0" y="-36164"/>
            <a:ext cx="9144300" cy="1278131"/>
            <a:chOff x="0" y="-19050"/>
            <a:chExt cx="4816592" cy="831900"/>
          </a:xfrm>
        </p:grpSpPr>
        <p:sp>
          <p:nvSpPr>
            <p:cNvPr id="287" name="Google Shape;287;g2e4ecd4405b_0_174"/>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1A1A1A"/>
            </a:solidFill>
            <a:ln>
              <a:noFill/>
            </a:ln>
          </p:spPr>
        </p:sp>
        <p:sp>
          <p:nvSpPr>
            <p:cNvPr id="288" name="Google Shape;288;g2e4ecd4405b_0_174"/>
            <p:cNvSpPr txBox="1"/>
            <p:nvPr/>
          </p:nvSpPr>
          <p:spPr>
            <a:xfrm>
              <a:off x="0" y="-19050"/>
              <a:ext cx="4816500" cy="831900"/>
            </a:xfrm>
            <a:prstGeom prst="rect">
              <a:avLst/>
            </a:prstGeom>
            <a:noFill/>
            <a:ln>
              <a:noFill/>
            </a:ln>
          </p:spPr>
          <p:txBody>
            <a:bodyPr anchorCtr="0" anchor="ctr" bIns="25400" lIns="25400" spcFirstLastPara="1" rIns="25400" wrap="square" tIns="25400">
              <a:noAutofit/>
            </a:bodyPr>
            <a:lstStyle/>
            <a:p>
              <a:pPr indent="0" lvl="0" marL="0" marR="0" rtl="0" algn="ctr">
                <a:lnSpc>
                  <a:spcPct val="158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89" name="Google Shape;289;g2e4ecd4405b_0_174"/>
          <p:cNvSpPr/>
          <p:nvPr/>
        </p:nvSpPr>
        <p:spPr>
          <a:xfrm>
            <a:off x="6725511" y="-2364698"/>
            <a:ext cx="3808279" cy="3907749"/>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290" name="Google Shape;290;g2e4ecd4405b_0_174"/>
          <p:cNvSpPr txBox="1"/>
          <p:nvPr/>
        </p:nvSpPr>
        <p:spPr>
          <a:xfrm>
            <a:off x="1845525" y="141450"/>
            <a:ext cx="5453100" cy="554100"/>
          </a:xfrm>
          <a:prstGeom prst="rect">
            <a:avLst/>
          </a:prstGeom>
          <a:noFill/>
          <a:ln>
            <a:noFill/>
          </a:ln>
        </p:spPr>
        <p:txBody>
          <a:bodyPr anchorCtr="0" anchor="t" bIns="0" lIns="0" spcFirstLastPara="1" rIns="0" wrap="square" tIns="0">
            <a:spAutoFit/>
          </a:bodyPr>
          <a:lstStyle/>
          <a:p>
            <a:pPr indent="0" lvl="0" marL="0" rtl="0" algn="ctr">
              <a:lnSpc>
                <a:spcPct val="138007"/>
              </a:lnSpc>
              <a:spcBef>
                <a:spcPts val="0"/>
              </a:spcBef>
              <a:spcAft>
                <a:spcPts val="0"/>
              </a:spcAft>
              <a:buClr>
                <a:schemeClr val="dk1"/>
              </a:buClr>
              <a:buSzPts val="600"/>
              <a:buFont typeface="Arial"/>
              <a:buNone/>
            </a:pPr>
            <a:r>
              <a:rPr b="1" lang="en-US" sz="3600">
                <a:solidFill>
                  <a:srgbClr val="FFFFFF"/>
                </a:solidFill>
                <a:latin typeface="Oswald"/>
                <a:ea typeface="Oswald"/>
                <a:cs typeface="Oswald"/>
                <a:sym typeface="Oswald"/>
              </a:rPr>
              <a:t>DISCUSSION</a:t>
            </a:r>
            <a:endParaRPr b="1" sz="3600">
              <a:solidFill>
                <a:srgbClr val="FFFFFF"/>
              </a:solidFill>
              <a:latin typeface="Oswald"/>
              <a:ea typeface="Oswald"/>
              <a:cs typeface="Oswald"/>
              <a:sym typeface="Oswald"/>
            </a:endParaRPr>
          </a:p>
        </p:txBody>
      </p:sp>
      <p:sp>
        <p:nvSpPr>
          <p:cNvPr id="291" name="Google Shape;291;g2e4ecd4405b_0_174"/>
          <p:cNvSpPr/>
          <p:nvPr/>
        </p:nvSpPr>
        <p:spPr>
          <a:xfrm>
            <a:off x="-1425687" y="-1721300"/>
            <a:ext cx="3354966" cy="2960632"/>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sp>
        <p:nvSpPr>
          <p:cNvPr id="292" name="Google Shape;292;g2e4ecd4405b_0_174"/>
          <p:cNvSpPr txBox="1"/>
          <p:nvPr/>
        </p:nvSpPr>
        <p:spPr>
          <a:xfrm>
            <a:off x="1845525" y="636337"/>
            <a:ext cx="5453100" cy="477300"/>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Clr>
                <a:srgbClr val="000000"/>
              </a:buClr>
              <a:buSzPts val="3200"/>
              <a:buFont typeface="Arial"/>
              <a:buNone/>
            </a:pPr>
            <a:r>
              <a:t/>
            </a:r>
            <a:endParaRPr b="0" i="0" sz="3100" u="none" cap="none" strike="noStrike">
              <a:solidFill>
                <a:srgbClr val="000000"/>
              </a:solidFill>
              <a:latin typeface="Arial"/>
              <a:ea typeface="Arial"/>
              <a:cs typeface="Arial"/>
              <a:sym typeface="Arial"/>
            </a:endParaRPr>
          </a:p>
        </p:txBody>
      </p:sp>
      <p:sp>
        <p:nvSpPr>
          <p:cNvPr id="293" name="Google Shape;293;g2e4ecd4405b_0_174"/>
          <p:cNvSpPr txBox="1"/>
          <p:nvPr/>
        </p:nvSpPr>
        <p:spPr>
          <a:xfrm>
            <a:off x="350150" y="1333900"/>
            <a:ext cx="3398700" cy="24474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lang="en-US" sz="1700">
                <a:solidFill>
                  <a:schemeClr val="dk1"/>
                </a:solidFill>
                <a:latin typeface="DM Sans"/>
                <a:ea typeface="DM Sans"/>
                <a:cs typeface="DM Sans"/>
                <a:sym typeface="DM Sans"/>
              </a:rPr>
              <a:t>Discussion</a:t>
            </a:r>
            <a:endParaRPr sz="1700">
              <a:solidFill>
                <a:schemeClr val="dk1"/>
              </a:solidFill>
              <a:latin typeface="DM Sans"/>
              <a:ea typeface="DM Sans"/>
              <a:cs typeface="DM Sans"/>
              <a:sym typeface="DM Sans"/>
            </a:endParaRPr>
          </a:p>
          <a:p>
            <a:pPr indent="-222250" lvl="0" marL="228600" rtl="0" algn="l">
              <a:spcBef>
                <a:spcPts val="0"/>
              </a:spcBef>
              <a:spcAft>
                <a:spcPts val="0"/>
              </a:spcAft>
              <a:buClr>
                <a:schemeClr val="dk1"/>
              </a:buClr>
              <a:buSzPts val="1700"/>
              <a:buFont typeface="DM Sans"/>
              <a:buChar char="●"/>
            </a:pPr>
            <a:r>
              <a:rPr lang="en-US" sz="1700">
                <a:solidFill>
                  <a:schemeClr val="dk1"/>
                </a:solidFill>
                <a:latin typeface="DM Sans"/>
                <a:ea typeface="DM Sans"/>
                <a:cs typeface="DM Sans"/>
                <a:sym typeface="DM Sans"/>
              </a:rPr>
              <a:t>The push test shows that we are able to get some force readings of the end effector </a:t>
            </a:r>
            <a:endParaRPr sz="1700">
              <a:solidFill>
                <a:schemeClr val="dk1"/>
              </a:solidFill>
              <a:latin typeface="DM Sans"/>
              <a:ea typeface="DM Sans"/>
              <a:cs typeface="DM Sans"/>
              <a:sym typeface="DM Sans"/>
            </a:endParaRPr>
          </a:p>
          <a:p>
            <a:pPr indent="-222250" lvl="0" marL="228600" rtl="0" algn="l">
              <a:spcBef>
                <a:spcPts val="0"/>
              </a:spcBef>
              <a:spcAft>
                <a:spcPts val="0"/>
              </a:spcAft>
              <a:buClr>
                <a:schemeClr val="dk1"/>
              </a:buClr>
              <a:buSzPts val="1700"/>
              <a:buFont typeface="DM Sans"/>
              <a:buChar char="●"/>
            </a:pPr>
            <a:r>
              <a:rPr lang="en-US" sz="1700">
                <a:solidFill>
                  <a:schemeClr val="dk1"/>
                </a:solidFill>
                <a:latin typeface="DM Sans"/>
                <a:ea typeface="DM Sans"/>
                <a:cs typeface="DM Sans"/>
                <a:sym typeface="DM Sans"/>
              </a:rPr>
              <a:t>However, the learning curve with PyDrake pushed us back so we have yet to get around to the planar case. </a:t>
            </a:r>
            <a:endParaRPr sz="1700">
              <a:solidFill>
                <a:schemeClr val="dk1"/>
              </a:solidFill>
              <a:latin typeface="DM Sans"/>
              <a:ea typeface="DM Sans"/>
              <a:cs typeface="DM Sans"/>
              <a:sym typeface="DM Sans"/>
            </a:endParaRPr>
          </a:p>
          <a:p>
            <a:pPr indent="0" lvl="0" marL="0" rtl="0" algn="l">
              <a:spcBef>
                <a:spcPts val="0"/>
              </a:spcBef>
              <a:spcAft>
                <a:spcPts val="0"/>
              </a:spcAft>
              <a:buNone/>
            </a:pPr>
            <a:r>
              <a:t/>
            </a:r>
            <a:endParaRPr sz="1700">
              <a:solidFill>
                <a:schemeClr val="dk1"/>
              </a:solidFill>
              <a:latin typeface="DM Sans"/>
              <a:ea typeface="DM Sans"/>
              <a:cs typeface="DM Sans"/>
              <a:sym typeface="DM Sans"/>
            </a:endParaRPr>
          </a:p>
        </p:txBody>
      </p:sp>
      <p:sp>
        <p:nvSpPr>
          <p:cNvPr id="294" name="Google Shape;294;g2e4ecd4405b_0_174"/>
          <p:cNvSpPr txBox="1"/>
          <p:nvPr/>
        </p:nvSpPr>
        <p:spPr>
          <a:xfrm>
            <a:off x="5260775" y="1418875"/>
            <a:ext cx="3398700" cy="29706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lang="en-US" sz="1700">
                <a:solidFill>
                  <a:schemeClr val="dk1"/>
                </a:solidFill>
                <a:latin typeface="DM Sans"/>
                <a:ea typeface="DM Sans"/>
                <a:cs typeface="DM Sans"/>
                <a:sym typeface="DM Sans"/>
              </a:rPr>
              <a:t>Future Works</a:t>
            </a:r>
            <a:endParaRPr sz="1700">
              <a:solidFill>
                <a:schemeClr val="dk1"/>
              </a:solidFill>
              <a:latin typeface="DM Sans"/>
              <a:ea typeface="DM Sans"/>
              <a:cs typeface="DM Sans"/>
              <a:sym typeface="DM Sans"/>
            </a:endParaRPr>
          </a:p>
          <a:p>
            <a:pPr indent="-222250" lvl="0" marL="228600" rtl="0" algn="l">
              <a:spcBef>
                <a:spcPts val="0"/>
              </a:spcBef>
              <a:spcAft>
                <a:spcPts val="0"/>
              </a:spcAft>
              <a:buClr>
                <a:schemeClr val="dk1"/>
              </a:buClr>
              <a:buSzPts val="1700"/>
              <a:buFont typeface="DM Sans"/>
              <a:buChar char="●"/>
            </a:pPr>
            <a:r>
              <a:rPr lang="en-US" sz="1700">
                <a:solidFill>
                  <a:schemeClr val="dk1"/>
                </a:solidFill>
                <a:latin typeface="DM Sans"/>
                <a:ea typeface="DM Sans"/>
                <a:cs typeface="DM Sans"/>
                <a:sym typeface="DM Sans"/>
              </a:rPr>
              <a:t>We still have to play around with the controller gains and tune for the planar case </a:t>
            </a:r>
            <a:endParaRPr sz="1700">
              <a:solidFill>
                <a:schemeClr val="dk1"/>
              </a:solidFill>
              <a:latin typeface="DM Sans"/>
              <a:ea typeface="DM Sans"/>
              <a:cs typeface="DM Sans"/>
              <a:sym typeface="DM Sans"/>
            </a:endParaRPr>
          </a:p>
          <a:p>
            <a:pPr indent="-222250" lvl="0" marL="228600" rtl="0" algn="l">
              <a:spcBef>
                <a:spcPts val="0"/>
              </a:spcBef>
              <a:spcAft>
                <a:spcPts val="0"/>
              </a:spcAft>
              <a:buClr>
                <a:schemeClr val="dk1"/>
              </a:buClr>
              <a:buSzPts val="1700"/>
              <a:buFont typeface="DM Sans"/>
              <a:buChar char="●"/>
            </a:pPr>
            <a:r>
              <a:rPr lang="en-US" sz="1700">
                <a:solidFill>
                  <a:schemeClr val="dk1"/>
                </a:solidFill>
                <a:latin typeface="DM Sans"/>
                <a:ea typeface="DM Sans"/>
                <a:cs typeface="DM Sans"/>
                <a:sym typeface="DM Sans"/>
              </a:rPr>
              <a:t>If time </a:t>
            </a:r>
            <a:r>
              <a:rPr lang="en-US" sz="1700">
                <a:solidFill>
                  <a:schemeClr val="dk1"/>
                </a:solidFill>
                <a:latin typeface="DM Sans"/>
                <a:ea typeface="DM Sans"/>
                <a:cs typeface="DM Sans"/>
                <a:sym typeface="DM Sans"/>
              </a:rPr>
              <a:t>allows</a:t>
            </a:r>
            <a:r>
              <a:rPr lang="en-US" sz="1700">
                <a:solidFill>
                  <a:schemeClr val="dk1"/>
                </a:solidFill>
                <a:latin typeface="DM Sans"/>
                <a:ea typeface="DM Sans"/>
                <a:cs typeface="DM Sans"/>
                <a:sym typeface="DM Sans"/>
              </a:rPr>
              <a:t>, see how the controller works with a curved surface</a:t>
            </a:r>
            <a:endParaRPr sz="1700">
              <a:solidFill>
                <a:schemeClr val="dk1"/>
              </a:solidFill>
              <a:latin typeface="DM Sans"/>
              <a:ea typeface="DM Sans"/>
              <a:cs typeface="DM Sans"/>
              <a:sym typeface="DM Sans"/>
            </a:endParaRPr>
          </a:p>
          <a:p>
            <a:pPr indent="-222250" lvl="1" marL="457200" rtl="0" algn="l">
              <a:spcBef>
                <a:spcPts val="0"/>
              </a:spcBef>
              <a:spcAft>
                <a:spcPts val="0"/>
              </a:spcAft>
              <a:buClr>
                <a:schemeClr val="dk1"/>
              </a:buClr>
              <a:buSzPts val="1700"/>
              <a:buFont typeface="DM Sans"/>
              <a:buChar char="○"/>
            </a:pPr>
            <a:r>
              <a:rPr lang="en-US" sz="1700">
                <a:solidFill>
                  <a:schemeClr val="dk1"/>
                </a:solidFill>
                <a:latin typeface="DM Sans"/>
                <a:ea typeface="DM Sans"/>
                <a:cs typeface="DM Sans"/>
                <a:sym typeface="DM Sans"/>
              </a:rPr>
              <a:t>Will need to modify the controller to </a:t>
            </a:r>
            <a:r>
              <a:rPr lang="en-US" sz="1700">
                <a:solidFill>
                  <a:schemeClr val="dk1"/>
                </a:solidFill>
                <a:latin typeface="DM Sans"/>
                <a:ea typeface="DM Sans"/>
                <a:cs typeface="DM Sans"/>
                <a:sym typeface="DM Sans"/>
              </a:rPr>
              <a:t>account</a:t>
            </a:r>
            <a:r>
              <a:rPr lang="en-US" sz="1700">
                <a:solidFill>
                  <a:schemeClr val="dk1"/>
                </a:solidFill>
                <a:latin typeface="DM Sans"/>
                <a:ea typeface="DM Sans"/>
                <a:cs typeface="DM Sans"/>
                <a:sym typeface="DM Sans"/>
              </a:rPr>
              <a:t> for change in DESIRED orientation</a:t>
            </a:r>
            <a:endParaRPr sz="1700">
              <a:solidFill>
                <a:schemeClr val="dk1"/>
              </a:solidFill>
              <a:latin typeface="DM Sans"/>
              <a:ea typeface="DM Sans"/>
              <a:cs typeface="DM Sans"/>
              <a:sym typeface="DM Sans"/>
            </a:endParaRPr>
          </a:p>
        </p:txBody>
      </p:sp>
      <p:sp>
        <p:nvSpPr>
          <p:cNvPr id="295" name="Google Shape;295;g2e4ecd4405b_0_174"/>
          <p:cNvSpPr txBox="1"/>
          <p:nvPr/>
        </p:nvSpPr>
        <p:spPr>
          <a:xfrm>
            <a:off x="8046720" y="4703850"/>
            <a:ext cx="914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800">
                <a:latin typeface="EB Garamond"/>
                <a:ea typeface="EB Garamond"/>
                <a:cs typeface="EB Garamond"/>
                <a:sym typeface="EB Garamond"/>
              </a:rPr>
              <a:t>12</a:t>
            </a:r>
            <a:endParaRPr sz="800">
              <a:latin typeface="EB Garamond"/>
              <a:ea typeface="EB Garamond"/>
              <a:cs typeface="EB Garamond"/>
              <a:sym typeface="EB Garamo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2F4F5"/>
        </a:solidFill>
      </p:bgPr>
    </p:bg>
    <p:spTree>
      <p:nvGrpSpPr>
        <p:cNvPr id="299" name="Shape 299"/>
        <p:cNvGrpSpPr/>
        <p:nvPr/>
      </p:nvGrpSpPr>
      <p:grpSpPr>
        <a:xfrm>
          <a:off x="0" y="0"/>
          <a:ext cx="0" cy="0"/>
          <a:chOff x="0" y="0"/>
          <a:chExt cx="0" cy="0"/>
        </a:xfrm>
      </p:grpSpPr>
      <p:sp>
        <p:nvSpPr>
          <p:cNvPr id="300" name="Google Shape;300;g2e4ecd4405b_0_29"/>
          <p:cNvSpPr/>
          <p:nvPr/>
        </p:nvSpPr>
        <p:spPr>
          <a:xfrm rot="7649932">
            <a:off x="-2005186" y="2804497"/>
            <a:ext cx="3822507" cy="3906839"/>
          </a:xfrm>
          <a:custGeom>
            <a:rect b="b" l="l" r="r" t="t"/>
            <a:pathLst>
              <a:path extrusionOk="0" h="7828566" w="7629294">
                <a:moveTo>
                  <a:pt x="0" y="0"/>
                </a:moveTo>
                <a:lnTo>
                  <a:pt x="7629294" y="0"/>
                </a:lnTo>
                <a:lnTo>
                  <a:pt x="7629294" y="7828566"/>
                </a:lnTo>
                <a:lnTo>
                  <a:pt x="0" y="7828566"/>
                </a:lnTo>
                <a:lnTo>
                  <a:pt x="0" y="0"/>
                </a:lnTo>
                <a:close/>
              </a:path>
            </a:pathLst>
          </a:custGeom>
          <a:blipFill rotWithShape="1">
            <a:blip r:embed="rId3">
              <a:alphaModFix/>
            </a:blip>
            <a:stretch>
              <a:fillRect b="0" l="0" r="0" t="0"/>
            </a:stretch>
          </a:blipFill>
          <a:ln>
            <a:noFill/>
          </a:ln>
        </p:spPr>
      </p:sp>
      <p:sp>
        <p:nvSpPr>
          <p:cNvPr id="301" name="Google Shape;301;g2e4ecd4405b_0_29"/>
          <p:cNvSpPr txBox="1"/>
          <p:nvPr/>
        </p:nvSpPr>
        <p:spPr>
          <a:xfrm>
            <a:off x="2241601" y="785963"/>
            <a:ext cx="4660800" cy="769500"/>
          </a:xfrm>
          <a:prstGeom prst="rect">
            <a:avLst/>
          </a:prstGeom>
          <a:noFill/>
          <a:ln>
            <a:noFill/>
          </a:ln>
        </p:spPr>
        <p:txBody>
          <a:bodyPr anchorCtr="0" anchor="t" bIns="0" lIns="0" spcFirstLastPara="1" rIns="0" wrap="square" tIns="0">
            <a:spAutoFit/>
          </a:bodyPr>
          <a:lstStyle/>
          <a:p>
            <a:pPr indent="0" lvl="0" marL="0" marR="0" rtl="0" algn="ctr">
              <a:lnSpc>
                <a:spcPct val="138002"/>
              </a:lnSpc>
              <a:spcBef>
                <a:spcPts val="0"/>
              </a:spcBef>
              <a:spcAft>
                <a:spcPts val="0"/>
              </a:spcAft>
              <a:buClr>
                <a:srgbClr val="000000"/>
              </a:buClr>
              <a:buSzPts val="5000"/>
              <a:buFont typeface="Arial"/>
              <a:buNone/>
            </a:pPr>
            <a:r>
              <a:rPr b="1" lang="en-US" sz="5000">
                <a:solidFill>
                  <a:srgbClr val="231F20"/>
                </a:solidFill>
                <a:latin typeface="Oswald"/>
                <a:ea typeface="Oswald"/>
                <a:cs typeface="Oswald"/>
                <a:sym typeface="Oswald"/>
              </a:rPr>
              <a:t>Thank you!</a:t>
            </a:r>
            <a:endParaRPr b="0" i="0" sz="700" u="none" cap="none" strike="noStrike">
              <a:solidFill>
                <a:srgbClr val="000000"/>
              </a:solidFill>
              <a:latin typeface="Arial"/>
              <a:ea typeface="Arial"/>
              <a:cs typeface="Arial"/>
              <a:sym typeface="Arial"/>
            </a:endParaRPr>
          </a:p>
        </p:txBody>
      </p:sp>
      <p:sp>
        <p:nvSpPr>
          <p:cNvPr id="302" name="Google Shape;302;g2e4ecd4405b_0_29"/>
          <p:cNvSpPr/>
          <p:nvPr/>
        </p:nvSpPr>
        <p:spPr>
          <a:xfrm rot="2016649">
            <a:off x="6119233" y="-498721"/>
            <a:ext cx="5388822" cy="1347206"/>
          </a:xfrm>
          <a:custGeom>
            <a:rect b="b" l="l" r="r" t="t"/>
            <a:pathLst>
              <a:path extrusionOk="0" h="2687366" w="10749463">
                <a:moveTo>
                  <a:pt x="0" y="0"/>
                </a:moveTo>
                <a:lnTo>
                  <a:pt x="10749463" y="0"/>
                </a:lnTo>
                <a:lnTo>
                  <a:pt x="10749463" y="2687365"/>
                </a:lnTo>
                <a:lnTo>
                  <a:pt x="0" y="2687365"/>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