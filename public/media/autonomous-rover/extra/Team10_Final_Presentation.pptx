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3" name="JUSTIN LE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79283A-54E3-44AA-BB4A-7C3FE72667E4}">
  <a:tblStyle styleId="{E079283A-54E3-44AA-BB4A-7C3FE72667E4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BF1"/>
          </a:solidFill>
        </a:fill>
      </a:tcStyle>
    </a:wholeTbl>
    <a:band1H>
      <a:tcTxStyle/>
      <a:tcStyle>
        <a:fill>
          <a:solidFill>
            <a:srgbClr val="CBD5E3"/>
          </a:solidFill>
        </a:fill>
      </a:tcStyle>
    </a:band1H>
    <a:band2H>
      <a:tcTxStyle/>
    </a:band2H>
    <a:band1V>
      <a:tcTxStyle/>
      <a:tcStyle>
        <a:fill>
          <a:solidFill>
            <a:srgbClr val="CBD5E3"/>
          </a:solidFill>
        </a:fill>
      </a:tcStyle>
    </a:band1V>
    <a:band2V>
      <a:tcTxStyle/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HelveticaNeue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6-07T00:40:08.864">
    <p:pos x="6000" y="0"/>
    <p:text>Hutchinson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06-07T00:40:21.312">
    <p:pos x="6000" y="0"/>
    <p:text>Tamin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06-07T00:40:36.278">
    <p:pos x="6000" y="0"/>
    <p:text>Tamin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4-06-07T00:40:46.551">
    <p:pos x="6000" y="0"/>
    <p:text>Justin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06-07T00:40:56.079">
    <p:pos x="6000" y="0"/>
    <p:text>John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4-06-07T00:41:07.191">
    <p:pos x="6000" y="0"/>
    <p:text>Justin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4-06-07T00:41:16.764">
    <p:pos x="6000" y="0"/>
    <p:text>John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4-06-07T00:41:27.375">
    <p:pos x="6000" y="0"/>
    <p:text>Hutchinson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4-06-07T00:41:39.749">
    <p:pos x="6000" y="0"/>
    <p:text>Hutchinson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4-06-07T00:42:15.690">
    <p:pos x="6000" y="0"/>
    <p:text>Tamin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4-06-07T00:42:33.227">
    <p:pos x="6000" y="0"/>
    <p:text>Justin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4-06-07T00:42:50.877">
    <p:pos x="6000" y="0"/>
    <p:text>Hutchinson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4-06-07T00:42:59.650">
    <p:pos x="6000" y="0"/>
    <p:text>John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2a2b32053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72a2b32053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72fa7c7d55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72fa7c7d55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72fa7c7d55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3094c6a3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142" name="Google Shape;142;g273094c6a3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2a2b32053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Wheels too?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72a2b32053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3094c6a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158" name="Google Shape;158;g273094c6a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72fa7c7d55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72fa7c7d55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272fa7c7d55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2fa7c7d5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2fa7c7d5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go, maybe talk about range of motion?</a:t>
            </a:r>
            <a:endParaRPr/>
          </a:p>
        </p:txBody>
      </p:sp>
      <p:sp>
        <p:nvSpPr>
          <p:cNvPr id="177" name="Google Shape;177;g272fa7c7d5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30f6abce3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30f6abce3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187" name="Google Shape;187;g2730f6abce3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30f6abce3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30f6abce3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195" name="Google Shape;195;g2730f6abce3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2a2b3205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272a2b3205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3094c6a39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73094c6a39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364837f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e364837f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2e364837f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2a2b32053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227" name="Google Shape;227;g272a2b32053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2a2b32053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to go</a:t>
            </a:r>
            <a:endParaRPr/>
          </a:p>
        </p:txBody>
      </p:sp>
      <p:sp>
        <p:nvSpPr>
          <p:cNvPr id="234" name="Google Shape;234;g272a2b32053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73094c6a39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Will finish this asap -john</a:t>
            </a:r>
            <a:endParaRPr/>
          </a:p>
        </p:txBody>
      </p:sp>
      <p:sp>
        <p:nvSpPr>
          <p:cNvPr id="242" name="Google Shape;242;g273094c6a39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72a2b3205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272a2b32053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er" showMasterSp="0">
  <p:cSld name="Title Open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640080" y="3017520"/>
            <a:ext cx="7772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640080" y="1828800"/>
            <a:ext cx="7772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40078" y="4480560"/>
            <a:ext cx="1188720" cy="1670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40078" y="4663440"/>
            <a:ext cx="1624612" cy="1670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3" type="body"/>
          </p:nvPr>
        </p:nvSpPr>
        <p:spPr>
          <a:xfrm>
            <a:off x="640080" y="1645920"/>
            <a:ext cx="33832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/>
          <p:nvPr>
            <p:ph idx="4" type="pic"/>
          </p:nvPr>
        </p:nvSpPr>
        <p:spPr>
          <a:xfrm>
            <a:off x="640079" y="442002"/>
            <a:ext cx="5759450" cy="370101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"/>
          <p:cNvSpPr txBox="1"/>
          <p:nvPr>
            <p:ph idx="5" type="body"/>
          </p:nvPr>
        </p:nvSpPr>
        <p:spPr>
          <a:xfrm>
            <a:off x="640080" y="1892807"/>
            <a:ext cx="777240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44">
          <p15:clr>
            <a:srgbClr val="FBAE40"/>
          </p15:clr>
        </p15:guide>
        <p15:guide id="2" orient="horz" pos="276">
          <p15:clr>
            <a:srgbClr val="FBAE40"/>
          </p15:clr>
        </p15:guide>
        <p15:guide id="3" pos="4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Q&amp;A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/>
        </p:nvSpPr>
        <p:spPr>
          <a:xfrm>
            <a:off x="640080" y="187452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Q&amp;A</a:t>
            </a:r>
            <a:endParaRPr b="1" i="0" sz="36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/dark background">
  <p:cSld name="Statement w/dark background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21624" y="4754880"/>
            <a:ext cx="457200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1371600" y="1408176"/>
            <a:ext cx="6400800" cy="1665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indent="-2286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2pPr>
            <a:lvl3pPr indent="-2286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3pPr>
            <a:lvl4pPr indent="-2286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4pPr>
            <a:lvl5pPr indent="-2286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640080" y="2468880"/>
            <a:ext cx="77724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40079" y="2651760"/>
            <a:ext cx="7772400" cy="22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b="1" i="0" sz="1600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b="1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21624" y="4754880"/>
            <a:ext cx="457200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40080" y="2006858"/>
            <a:ext cx="7772400" cy="498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ineer Change.">
  <p:cSld name="Engineer Change.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20100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54088" y="2290569"/>
            <a:ext cx="4642713" cy="586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able">
  <p:cSld name="Header w/tab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/>
          <p:nvPr>
            <p:ph idx="2" type="tbl"/>
          </p:nvPr>
        </p:nvSpPr>
        <p:spPr>
          <a:xfrm>
            <a:off x="1097280" y="1463040"/>
            <a:ext cx="6400800" cy="310896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7739808" y="1463040"/>
            <a:ext cx="1139015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F00FF"/>
              </a:buClr>
              <a:buSzPts val="800"/>
              <a:buNone/>
              <a:defRPr b="0" sz="800">
                <a:solidFill>
                  <a:srgbClr val="FF00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copy">
  <p:cSld name="Header w/cop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idx="1" type="body"/>
          </p:nvPr>
        </p:nvSpPr>
        <p:spPr>
          <a:xfrm>
            <a:off x="1097280" y="1828800"/>
            <a:ext cx="6858000" cy="582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1097280" y="1463040"/>
            <a:ext cx="6858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bullets">
  <p:cSld name="Header w/bulle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1097280" y="1828801"/>
            <a:ext cx="6858000" cy="582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1097280" y="1463040"/>
            <a:ext cx="6858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3" type="body"/>
          </p:nvPr>
        </p:nvSpPr>
        <p:spPr>
          <a:xfrm>
            <a:off x="1097279" y="2560320"/>
            <a:ext cx="6858000" cy="388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3175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columns">
  <p:cSld name="Header w/two 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1097280" y="1828800"/>
            <a:ext cx="3383280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1097280" y="1463040"/>
            <a:ext cx="33832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1"/>
          <p:cNvSpPr txBox="1"/>
          <p:nvPr>
            <p:ph idx="3" type="body"/>
          </p:nvPr>
        </p:nvSpPr>
        <p:spPr>
          <a:xfrm>
            <a:off x="5029200" y="1828800"/>
            <a:ext cx="3383280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4" type="body"/>
          </p:nvPr>
        </p:nvSpPr>
        <p:spPr>
          <a:xfrm>
            <a:off x="5029200" y="1463040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Left">
  <p:cSld name="Header w/one image on Lef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4572000" y="1828800"/>
            <a:ext cx="3840478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2" type="body"/>
          </p:nvPr>
        </p:nvSpPr>
        <p:spPr>
          <a:xfrm>
            <a:off x="4571999" y="1463040"/>
            <a:ext cx="384047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2"/>
          <p:cNvSpPr/>
          <p:nvPr>
            <p:ph idx="3" type="pic"/>
          </p:nvPr>
        </p:nvSpPr>
        <p:spPr>
          <a:xfrm>
            <a:off x="640080" y="1463040"/>
            <a:ext cx="3931920" cy="310896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Right">
  <p:cSld name="Header w/one image on Righ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40080" y="1828800"/>
            <a:ext cx="3840480" cy="1205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640080" y="1463040"/>
            <a:ext cx="384047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/>
          <p:nvPr>
            <p:ph idx="3" type="pic"/>
          </p:nvPr>
        </p:nvSpPr>
        <p:spPr>
          <a:xfrm>
            <a:off x="4480559" y="1463040"/>
            <a:ext cx="3931920" cy="310896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images">
  <p:cSld name="Header w/two image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4"/>
          <p:cNvSpPr/>
          <p:nvPr>
            <p:ph idx="2" type="pic"/>
          </p:nvPr>
        </p:nvSpPr>
        <p:spPr>
          <a:xfrm>
            <a:off x="639952" y="1463040"/>
            <a:ext cx="3749039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640080" y="3566160"/>
            <a:ext cx="3749039" cy="76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/>
          <p:nvPr>
            <p:ph idx="3" type="pic"/>
          </p:nvPr>
        </p:nvSpPr>
        <p:spPr>
          <a:xfrm>
            <a:off x="4666262" y="1466850"/>
            <a:ext cx="3749039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84" name="Google Shape;84;p14"/>
          <p:cNvSpPr txBox="1"/>
          <p:nvPr>
            <p:ph idx="4" type="body"/>
          </p:nvPr>
        </p:nvSpPr>
        <p:spPr>
          <a:xfrm>
            <a:off x="4666390" y="3569970"/>
            <a:ext cx="3749039" cy="76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hree images">
  <p:cSld name="Header w/three image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5"/>
          <p:cNvSpPr/>
          <p:nvPr>
            <p:ph idx="2" type="pic"/>
          </p:nvPr>
        </p:nvSpPr>
        <p:spPr>
          <a:xfrm>
            <a:off x="639952" y="1463040"/>
            <a:ext cx="246888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5943600" y="356616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5"/>
          <p:cNvSpPr/>
          <p:nvPr>
            <p:ph idx="3" type="pic"/>
          </p:nvPr>
        </p:nvSpPr>
        <p:spPr>
          <a:xfrm>
            <a:off x="5943600" y="1463040"/>
            <a:ext cx="246888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0" name="Google Shape;90;p15"/>
          <p:cNvSpPr txBox="1"/>
          <p:nvPr>
            <p:ph idx="4" type="body"/>
          </p:nvPr>
        </p:nvSpPr>
        <p:spPr>
          <a:xfrm>
            <a:off x="3291840" y="356616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5" type="pic"/>
          </p:nvPr>
        </p:nvSpPr>
        <p:spPr>
          <a:xfrm>
            <a:off x="3291776" y="1463040"/>
            <a:ext cx="246888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2" name="Google Shape;92;p15"/>
          <p:cNvSpPr txBox="1"/>
          <p:nvPr>
            <p:ph idx="6" type="body"/>
          </p:nvPr>
        </p:nvSpPr>
        <p:spPr>
          <a:xfrm>
            <a:off x="640080" y="356615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/wide image">
  <p:cSld name="Header/wide imag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640080" y="39319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6"/>
          <p:cNvSpPr/>
          <p:nvPr>
            <p:ph idx="2" type="pic"/>
          </p:nvPr>
        </p:nvSpPr>
        <p:spPr>
          <a:xfrm>
            <a:off x="640080" y="1463040"/>
            <a:ext cx="7772400" cy="242316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video">
  <p:cSld name="Header w/vide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7"/>
          <p:cNvSpPr/>
          <p:nvPr>
            <p:ph idx="2" type="media"/>
          </p:nvPr>
        </p:nvSpPr>
        <p:spPr>
          <a:xfrm>
            <a:off x="1828800" y="1463040"/>
            <a:ext cx="5486400" cy="310896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video and copy">
  <p:cSld name="Header w/video and cop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5669280" y="1828799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5669280" y="14630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8"/>
          <p:cNvSpPr/>
          <p:nvPr>
            <p:ph idx="3" type="media"/>
          </p:nvPr>
        </p:nvSpPr>
        <p:spPr>
          <a:xfrm>
            <a:off x="640080" y="1463040"/>
            <a:ext cx="5029200" cy="283464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6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578B"/>
            </a:gs>
            <a:gs pos="100000">
              <a:srgbClr val="2774AE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420100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640080" y="1874520"/>
            <a:ext cx="7780020" cy="5577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40080" y="2651760"/>
            <a:ext cx="7772400" cy="126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31520" y="206105"/>
            <a:ext cx="1808349" cy="36933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640080" y="1103074"/>
            <a:ext cx="7772400" cy="36576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640079" y="640080"/>
            <a:ext cx="7772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>
            <a:gsLst>
              <a:gs pos="0">
                <a:srgbClr val="00578B"/>
              </a:gs>
              <a:gs pos="100000">
                <a:srgbClr val="2774AE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5760" y="126936"/>
            <a:ext cx="1063897" cy="21729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097280" y="1463040"/>
            <a:ext cx="7315200" cy="117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5.xml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6.xml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7.xml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8.xml"/><Relationship Id="rId4" Type="http://schemas.openxmlformats.org/officeDocument/2006/relationships/hyperlink" Target="http://drive.google.com/file/d/1DYVWwR1Iqn5gFoQksRsLAhlcZPqs1jXo/view" TargetMode="External"/><Relationship Id="rId5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9.xml"/><Relationship Id="rId4" Type="http://schemas.openxmlformats.org/officeDocument/2006/relationships/hyperlink" Target="http://drive.google.com/file/d/1syl4QXT9WFs8E4sVVnAJPawsTAnwf_F3/view" TargetMode="External"/><Relationship Id="rId5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0.xml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1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2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3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716268" y="4328150"/>
            <a:ext cx="4130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MAE 162E, UCLA Spring 2024</a:t>
            </a:r>
            <a:endParaRPr/>
          </a:p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716266" y="4511050"/>
            <a:ext cx="6384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John Lee, Justin Lee, Jacob Sayono, Matthew Tamin, Matthew Hutchinson</a:t>
            </a:r>
            <a:endParaRPr/>
          </a:p>
        </p:txBody>
      </p:sp>
      <p:pic>
        <p:nvPicPr>
          <p:cNvPr id="115" name="Google Shape;115;p19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438150"/>
            <a:ext cx="2175329" cy="44429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idx="5" type="body"/>
          </p:nvPr>
        </p:nvSpPr>
        <p:spPr>
          <a:xfrm>
            <a:off x="640080" y="1969007"/>
            <a:ext cx="7772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/>
              <a:t>Autonomous Disk Stacking Robot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/>
              <a:t>“Scoop N’ Do”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Meet the </a:t>
            </a:r>
            <a:r>
              <a:rPr lang="en-US"/>
              <a:t>Team</a:t>
            </a:r>
            <a:endParaRPr/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025" y="1236025"/>
            <a:ext cx="4287952" cy="3215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664825" y="4452000"/>
            <a:ext cx="77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10 (pictured left to right): John Lee, Jacob Sayono, Justin Lee, Matthew Tamin, Matthew </a:t>
            </a:r>
            <a:r>
              <a:rPr lang="en-US" sz="12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Hutchinson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High Level Design </a:t>
            </a:r>
            <a:r>
              <a:rPr lang="en-US"/>
              <a:t>Requirements</a:t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479100" y="1396250"/>
            <a:ext cx="83997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Priority:</a:t>
            </a:r>
            <a:endParaRPr>
              <a:solidFill>
                <a:srgbClr val="CC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Fit within 30x25x20 cm volume</a:t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Functions after a 6” drop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9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Medium Priority:</a:t>
            </a:r>
            <a:endParaRPr>
              <a:solidFill>
                <a:srgbClr val="FF99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Autonomous navigation to specific stations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Picks up and drops off disks on elevated platforms </a:t>
            </a:r>
            <a:endParaRPr>
              <a:solidFill>
                <a:srgbClr val="FF99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Drops off disks in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specified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order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Priority:</a:t>
            </a:r>
            <a:endParaRPr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Marketable and aesthetically pleasing design </a:t>
            </a:r>
            <a:endParaRPr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640079" y="640080"/>
            <a:ext cx="7772400" cy="77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 Level Design Requirements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495300" y="1276350"/>
            <a:ext cx="81153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Priority: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Minimal DOFs and motors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Lowest possible center of mass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9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Medium Priority: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Length and width close to dimension limits for stability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Fit into volume with 5 mm tolerances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Priority: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 completion within five minutes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Modular design for easy part exchange and repair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The </a:t>
            </a:r>
            <a:r>
              <a:rPr lang="en-US"/>
              <a:t>T</a:t>
            </a:r>
            <a:r>
              <a:rPr lang="en-US"/>
              <a:t>esting Venue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581375" y="1710538"/>
            <a:ext cx="2053800" cy="268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Starting Position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Disk Pickup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Sizing Gate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 Degree Turn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Obstacle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Ramp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Disk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Off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AutoNum type="arabicPeriod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Curved Path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9325" y="1395438"/>
            <a:ext cx="5696776" cy="331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4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Design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075" y="1987775"/>
            <a:ext cx="3353701" cy="221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/>
          <p:nvPr/>
        </p:nvSpPr>
        <p:spPr>
          <a:xfrm>
            <a:off x="533850" y="1478375"/>
            <a:ext cx="4407900" cy="30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Divides into 3 major parts: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hassis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Arm (Rack and Pinion)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Basket-Lift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hassis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contains drive and electronics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Arm designed for loading and unloading  disks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Basket-lift carries disks and elevates them for unloading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5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Main Chassis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8100" y="1560725"/>
            <a:ext cx="3473524" cy="284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640075" y="1408325"/>
            <a:ext cx="39186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Points: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Stacked layers of 3mm-thick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acrylic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held apart by 3D printed standoffs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Front-wheel drive design with two 12V motors and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65mm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wheels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inch swivel caster wheels used for the rear two wheels to allow for easier turning with FWD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6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Basket-lift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5575" y="1244375"/>
            <a:ext cx="2935227" cy="17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6800" y="3100825"/>
            <a:ext cx="2232774" cy="17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304800" y="1314450"/>
            <a:ext cx="53532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Points: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Utilizes a crank and slider mechanism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Achieves a 1-inch lift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Predominantly 3D printed using PLA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Cost-effective but time-consuming due to print duration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Positional servo motor (SG90) rotates crank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 degrees for platform down, 180 degrees for platform up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7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Arm (Rack and Pinion)</a:t>
            </a:r>
            <a:endParaRPr/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4">
            <a:alphaModFix/>
          </a:blip>
          <a:srcRect b="5683" l="0" r="0" t="7284"/>
          <a:stretch/>
        </p:blipFill>
        <p:spPr>
          <a:xfrm>
            <a:off x="5094400" y="1289775"/>
            <a:ext cx="3241874" cy="185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5">
            <a:alphaModFix/>
          </a:blip>
          <a:srcRect b="17478" l="0" r="0" t="5355"/>
          <a:stretch/>
        </p:blipFill>
        <p:spPr>
          <a:xfrm>
            <a:off x="5094400" y="3239925"/>
            <a:ext cx="3241874" cy="17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/>
          <p:nvPr/>
        </p:nvSpPr>
        <p:spPr>
          <a:xfrm>
            <a:off x="640075" y="1412550"/>
            <a:ext cx="40653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Points: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almost entirely 3D printed using PLA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Cost-efficient, but not very time efficient due to multiple reprints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Positional servo motor (SG90) for rotation of scooper opening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Continuous servo motor (FS90R) for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translational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motion of the scooper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8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Pick Up Process</a:t>
            </a:r>
            <a:endParaRPr/>
          </a:p>
        </p:txBody>
      </p:sp>
      <p:pic>
        <p:nvPicPr>
          <p:cNvPr id="191" name="Google Shape;191;p28" title="IMG_8702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912" y="1302975"/>
            <a:ext cx="6136723" cy="345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29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Drop Off Process</a:t>
            </a:r>
            <a:endParaRPr/>
          </a:p>
        </p:txBody>
      </p:sp>
      <p:pic>
        <p:nvPicPr>
          <p:cNvPr id="199" name="Google Shape;199;p29" title="IMG_8703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7624" y="1356501"/>
            <a:ext cx="6037298" cy="33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Electronics</a:t>
            </a: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400" y="1203855"/>
            <a:ext cx="5091206" cy="381072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6096525" y="1282375"/>
            <a:ext cx="2662800" cy="3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12V rechargeable battery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Buck Converter: Splits 12V and 5V for respective components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L298N motor driver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12V DC motors with encoders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5V 90g positional &amp; continuous servos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Arduino Nano (low-level control)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Raspberry Pi (high-level compute)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 camera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31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Controls / </a:t>
            </a:r>
            <a:r>
              <a:rPr lang="en-US"/>
              <a:t>Sensors</a:t>
            </a:r>
            <a:endParaRPr/>
          </a:p>
        </p:txBody>
      </p:sp>
      <p:sp>
        <p:nvSpPr>
          <p:cNvPr id="214" name="Google Shape;214;p31"/>
          <p:cNvSpPr txBox="1"/>
          <p:nvPr/>
        </p:nvSpPr>
        <p:spPr>
          <a:xfrm>
            <a:off x="286350" y="1294200"/>
            <a:ext cx="85713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Motor controls (ROS &amp; Arduino)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Motors run at about 1975 encoder counts per revolution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Controller runs PID loop 30 times per second (30 Hz)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send a PWM signal value of 70 (from 0 to 255) to run the motor at exactly 1 rev/sec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Motor encoder PID is set to: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Kp = 20, Kd = 12, Ki = 0, Ko = 50 (scaling factor)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Camera (OpenCV)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as a reference rather than a closed loop control for motor steering angle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is segmented into 3 areas (white-black-white) to estimate the x-coordinate of the black pixels (i.e. the black line to follow)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x-coordinate value is extracted and sent to motor commands to fix the error from the center of the image with an adjusted proportional rate of 0.005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Arm Servos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Directly hooked to the Raspberry Pi, where a bash script is run using pigpiod library.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Continuous servo (1x) for extending the arm based on linear time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Positional servos (2x) for opening &amp; lifting arm based on angular position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2"/>
          <p:cNvSpPr txBox="1"/>
          <p:nvPr>
            <p:ph type="title"/>
          </p:nvPr>
        </p:nvSpPr>
        <p:spPr>
          <a:xfrm>
            <a:off x="640079" y="640080"/>
            <a:ext cx="7772400" cy="775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Bill of Materials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50" y="1185075"/>
            <a:ext cx="4588975" cy="3195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2975" y="1185075"/>
            <a:ext cx="4294574" cy="3195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32"/>
          <p:cNvSpPr txBox="1"/>
          <p:nvPr>
            <p:ph type="title"/>
          </p:nvPr>
        </p:nvSpPr>
        <p:spPr>
          <a:xfrm>
            <a:off x="493429" y="4549830"/>
            <a:ext cx="7772400" cy="3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Total: $222.25/500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Project Review: Successes and Setbacks</a:t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544075" y="1229375"/>
            <a:ext cx="7964400" cy="3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Successes: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Functionalities of designs (lift and arm) worked perfectly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 system is smooth and strong enough to go up/down the ramp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Raspberry Pi camera performs object detection and line tracing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Electronics work as intended leading to smooth performances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Setbacks: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 system operates too fast for camera to process data efficiently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Causes line tracking to be unreliable at sharp turns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relies heavily on consistent platform heights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Variations in platform height disrupts the loading and unloading of disks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34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Learning Experiences</a:t>
            </a:r>
            <a:endParaRPr/>
          </a:p>
        </p:txBody>
      </p:sp>
      <p:sp>
        <p:nvSpPr>
          <p:cNvPr id="238" name="Google Shape;238;p34"/>
          <p:cNvSpPr txBox="1"/>
          <p:nvPr/>
        </p:nvSpPr>
        <p:spPr>
          <a:xfrm>
            <a:off x="361950" y="1381125"/>
            <a:ext cx="84201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316225" y="1324075"/>
            <a:ext cx="84201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 Division: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efficiency in task delegation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Programming Challenges: Raspberry Pi (camera) programming is more complex and time-consuming compared to Arduino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has a lot more capabilities, however difficult to debug and code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 Management: Ensure tasks are completed on schedule (setting deadlines)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Adaptability: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Unforeseen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issues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common when it comes to manufacturing (3D printing) and design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Communication: Efficient communication within the team to improve collaboration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35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Furthering the Project</a:t>
            </a:r>
            <a:endParaRPr/>
          </a:p>
        </p:txBody>
      </p:sp>
      <p:sp>
        <p:nvSpPr>
          <p:cNvPr id="246" name="Google Shape;246;p35"/>
          <p:cNvSpPr txBox="1"/>
          <p:nvPr/>
        </p:nvSpPr>
        <p:spPr>
          <a:xfrm>
            <a:off x="361950" y="1381125"/>
            <a:ext cx="84201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333375" y="1295400"/>
            <a:ext cx="8420100" cy="3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Dimension Adaptability: Modify the platform design to accommodate varying dimensions, ensuring adaptability to different testing venues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Sensor Integration for Robustness: Integrate additional sensors (IR and ultrasonic sensors) to enhance robustness and reliability in case the primary sensors fail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Transition to Off-the-Shelf Components: This transition will improve the 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robustness and reliability, reducing the potential for errors and increasing the overall quality of the components, despite the higher costs.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Char char="-"/>
            </a:pP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 for Efficiency: Reducing the size and weight</a:t>
            </a:r>
            <a:r>
              <a:rPr lang="en-US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a more efficient design</a:t>
            </a:r>
            <a:endParaRPr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421624" y="4754880"/>
            <a:ext cx="457200" cy="381643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1371600" y="2246376"/>
            <a:ext cx="64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>
            <p:ph idx="12" type="sldNum"/>
          </p:nvPr>
        </p:nvSpPr>
        <p:spPr>
          <a:xfrm>
            <a:off x="8421624" y="4754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idx="12" type="sldNum"/>
          </p:nvPr>
        </p:nvSpPr>
        <p:spPr>
          <a:xfrm>
            <a:off x="8421624" y="475488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38"/>
          <p:cNvSpPr txBox="1"/>
          <p:nvPr>
            <p:ph type="title"/>
          </p:nvPr>
        </p:nvSpPr>
        <p:spPr>
          <a:xfrm>
            <a:off x="640079" y="640080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-US"/>
              <a:t>Header w/editable table (optional slide)</a:t>
            </a:r>
            <a:endParaRPr/>
          </a:p>
        </p:txBody>
      </p:sp>
      <p:sp>
        <p:nvSpPr>
          <p:cNvPr id="265" name="Google Shape;265;p38"/>
          <p:cNvSpPr/>
          <p:nvPr>
            <p:ph idx="2" type="tbl"/>
          </p:nvPr>
        </p:nvSpPr>
        <p:spPr>
          <a:xfrm>
            <a:off x="1097280" y="1463040"/>
            <a:ext cx="64008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8"/>
          <p:cNvSpPr txBox="1"/>
          <p:nvPr>
            <p:ph idx="1" type="body"/>
          </p:nvPr>
        </p:nvSpPr>
        <p:spPr>
          <a:xfrm>
            <a:off x="7739808" y="1463040"/>
            <a:ext cx="1139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800"/>
              <a:buNone/>
            </a:pPr>
            <a:r>
              <a:t/>
            </a:r>
            <a:endParaRPr/>
          </a:p>
        </p:txBody>
      </p:sp>
      <p:graphicFrame>
        <p:nvGraphicFramePr>
          <p:cNvPr id="267" name="Google Shape;267;p38"/>
          <p:cNvGraphicFramePr/>
          <p:nvPr/>
        </p:nvGraphicFramePr>
        <p:xfrm>
          <a:off x="1098268" y="146256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{E079283A-54E3-44AA-BB4A-7C3FE72667E4}</a:tableStyleId>
              </a:tblPr>
              <a:tblGrid>
                <a:gridCol w="2567150"/>
                <a:gridCol w="1916325"/>
                <a:gridCol w="1916325"/>
              </a:tblGrid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0" marB="0" marR="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74AE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Title</a:t>
                      </a:r>
                      <a:endParaRPr/>
                    </a:p>
                  </a:txBody>
                  <a:tcPr marT="45725" marB="45725" marR="91450" marL="3657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2774AE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CB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sentation-02">
  <a:themeElements>
    <a:clrScheme name="brand-presentation2">
      <a:dk1>
        <a:srgbClr val="57585B"/>
      </a:dk1>
      <a:lt1>
        <a:srgbClr val="FFFFFF"/>
      </a:lt1>
      <a:dk2>
        <a:srgbClr val="2774AE"/>
      </a:dk2>
      <a:lt2>
        <a:srgbClr val="FFFFFF"/>
      </a:lt2>
      <a:accent1>
        <a:srgbClr val="2774AE"/>
      </a:accent1>
      <a:accent2>
        <a:srgbClr val="898989"/>
      </a:accent2>
      <a:accent3>
        <a:srgbClr val="DAE6F4"/>
      </a:accent3>
      <a:accent4>
        <a:srgbClr val="8AB8E8"/>
      </a:accent4>
      <a:accent5>
        <a:srgbClr val="FFC72B"/>
      </a:accent5>
      <a:accent6>
        <a:srgbClr val="00375B"/>
      </a:accent6>
      <a:hlink>
        <a:srgbClr val="00375B"/>
      </a:hlink>
      <a:folHlink>
        <a:srgbClr val="5123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esentation-01-dark">
  <a:themeElements>
    <a:clrScheme name="Brand-01-Colors">
      <a:dk1>
        <a:srgbClr val="57585B"/>
      </a:dk1>
      <a:lt1>
        <a:srgbClr val="FFFFFF"/>
      </a:lt1>
      <a:dk2>
        <a:srgbClr val="2774AE"/>
      </a:dk2>
      <a:lt2>
        <a:srgbClr val="FFFFFF"/>
      </a:lt2>
      <a:accent1>
        <a:srgbClr val="2774AE"/>
      </a:accent1>
      <a:accent2>
        <a:srgbClr val="898989"/>
      </a:accent2>
      <a:accent3>
        <a:srgbClr val="DAE6F4"/>
      </a:accent3>
      <a:accent4>
        <a:srgbClr val="8AB8E8"/>
      </a:accent4>
      <a:accent5>
        <a:srgbClr val="FFC72B"/>
      </a:accent5>
      <a:accent6>
        <a:srgbClr val="00375B"/>
      </a:accent6>
      <a:hlink>
        <a:srgbClr val="00375B"/>
      </a:hlink>
      <a:folHlink>
        <a:srgbClr val="5123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